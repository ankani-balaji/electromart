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ibre Baskerville" charset="1" panose="02000000000000000000"/>
      <p:regular r:id="rId20"/>
    </p:embeddedFont>
    <p:embeddedFont>
      <p:font typeface="Open Sans" charset="1" panose="00000000000000000000"/>
      <p:regular r:id="rId21"/>
    </p:embeddedFont>
    <p:embeddedFont>
      <p:font typeface="Open Sans Bold" charset="1" panose="00000000000000000000"/>
      <p:regular r:id="rId22"/>
    </p:embeddedFont>
    <p:embeddedFont>
      <p:font typeface="Consolas" charset="1" panose="020B060902020403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fonts/font28.fntdata" Type="http://schemas.openxmlformats.org/officeDocument/2006/relationships/font"/><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17.png" Type="http://schemas.openxmlformats.org/officeDocument/2006/relationships/image"/><Relationship Id="rId2" Target="../notesSlides/notesSlide3.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8.jpeg" Type="http://schemas.openxmlformats.org/officeDocument/2006/relationships/image"/><Relationship Id="rId4"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20.png" Type="http://schemas.openxmlformats.org/officeDocument/2006/relationships/image"/><Relationship Id="rId5" Target="../media/image21.png" Type="http://schemas.openxmlformats.org/officeDocument/2006/relationships/image"/><Relationship Id="rId6"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3.jpeg" Type="http://schemas.openxmlformats.org/officeDocument/2006/relationships/image"/><Relationship Id="rId4" Target="../media/image24.jpeg" Type="http://schemas.openxmlformats.org/officeDocument/2006/relationships/image"/><Relationship Id="rId5"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5.jpeg" Type="http://schemas.openxmlformats.org/officeDocument/2006/relationships/image"/><Relationship Id="rId4" Target="../media/image26.jpeg" Type="http://schemas.openxmlformats.org/officeDocument/2006/relationships/image"/><Relationship Id="rId5"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electro-mart-indol.vercel.app/" TargetMode="External" Type="http://schemas.openxmlformats.org/officeDocument/2006/relationships/hyperlink"/><Relationship Id="rId4" Target="https://github.com/Ankani-Balaji/ElectroMart" TargetMode="External" Type="http://schemas.openxmlformats.org/officeDocument/2006/relationships/hyperlink"/><Relationship Id="rId5"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821979"/>
            <a:ext cx="16303523" cy="849659"/>
          </a:xfrm>
          <a:prstGeom prst="rect">
            <a:avLst/>
          </a:prstGeom>
        </p:spPr>
        <p:txBody>
          <a:bodyPr anchor="t" rtlCol="false" tIns="0" lIns="0" bIns="0" rIns="0">
            <a:spAutoFit/>
          </a:bodyPr>
          <a:lstStyle/>
          <a:p>
            <a:pPr algn="l">
              <a:lnSpc>
                <a:spcPts val="6489"/>
              </a:lnSpc>
            </a:pPr>
            <a:r>
              <a:rPr lang="en-US" sz="5200">
                <a:solidFill>
                  <a:srgbClr val="403CCF"/>
                </a:solidFill>
                <a:latin typeface="Libre Baskerville"/>
                <a:ea typeface="Libre Baskerville"/>
                <a:cs typeface="Libre Baskerville"/>
                <a:sym typeface="Libre Baskerville"/>
              </a:rPr>
              <a:t>ElectroMart</a:t>
            </a:r>
          </a:p>
        </p:txBody>
      </p:sp>
      <p:sp>
        <p:nvSpPr>
          <p:cNvPr name="TextBox 7" id="7"/>
          <p:cNvSpPr txBox="true"/>
          <p:nvPr/>
        </p:nvSpPr>
        <p:spPr>
          <a:xfrm rot="0">
            <a:off x="992238" y="2016766"/>
            <a:ext cx="16303523" cy="2321119"/>
          </a:xfrm>
          <a:prstGeom prst="rect">
            <a:avLst/>
          </a:prstGeom>
        </p:spPr>
        <p:txBody>
          <a:bodyPr anchor="t" rtlCol="false" tIns="0" lIns="0" bIns="0" rIns="0">
            <a:spAutoFit/>
          </a:bodyPr>
          <a:lstStyle/>
          <a:p>
            <a:pPr algn="l">
              <a:lnSpc>
                <a:spcPts val="8985"/>
              </a:lnSpc>
            </a:pPr>
            <a:r>
              <a:rPr lang="en-US" sz="7200">
                <a:solidFill>
                  <a:srgbClr val="403CCF"/>
                </a:solidFill>
                <a:latin typeface="Libre Baskerville"/>
                <a:ea typeface="Libre Baskerville"/>
                <a:cs typeface="Libre Baskerville"/>
                <a:sym typeface="Libre Baskerville"/>
              </a:rPr>
              <a:t>Modern E-Commerce Web Application</a:t>
            </a:r>
          </a:p>
        </p:txBody>
      </p:sp>
      <p:sp>
        <p:nvSpPr>
          <p:cNvPr name="TextBox 8" id="8"/>
          <p:cNvSpPr txBox="true"/>
          <p:nvPr/>
        </p:nvSpPr>
        <p:spPr>
          <a:xfrm rot="0">
            <a:off x="992238" y="4644923"/>
            <a:ext cx="17217923" cy="478631"/>
          </a:xfrm>
          <a:prstGeom prst="rect">
            <a:avLst/>
          </a:prstGeom>
        </p:spPr>
        <p:txBody>
          <a:bodyPr anchor="t" rtlCol="false" tIns="0" lIns="0" bIns="0" rIns="0">
            <a:spAutoFit/>
          </a:bodyPr>
          <a:lstStyle/>
          <a:p>
            <a:pPr algn="l">
              <a:lnSpc>
                <a:spcPts val="3096"/>
              </a:lnSpc>
            </a:pPr>
            <a:r>
              <a:rPr lang="en-US" sz="2000">
                <a:solidFill>
                  <a:srgbClr val="49495A"/>
                </a:solidFill>
                <a:latin typeface="Open Sans"/>
                <a:ea typeface="Open Sans"/>
                <a:cs typeface="Open Sans"/>
                <a:sym typeface="Open Sans"/>
              </a:rPr>
              <a:t>Built with React.js · Redux Toolkit · Vite · Razorpay</a:t>
            </a:r>
          </a:p>
        </p:txBody>
      </p:sp>
      <p:grpSp>
        <p:nvGrpSpPr>
          <p:cNvPr name="Group 9" id="9"/>
          <p:cNvGrpSpPr/>
          <p:nvPr/>
        </p:nvGrpSpPr>
        <p:grpSpPr>
          <a:xfrm rot="0">
            <a:off x="992238" y="5403799"/>
            <a:ext cx="2539603" cy="403774"/>
            <a:chOff x="0" y="0"/>
            <a:chExt cx="3386138" cy="538366"/>
          </a:xfrm>
        </p:grpSpPr>
        <p:sp>
          <p:nvSpPr>
            <p:cNvPr name="Freeform 10" id="10"/>
            <p:cNvSpPr/>
            <p:nvPr/>
          </p:nvSpPr>
          <p:spPr>
            <a:xfrm flipH="false" flipV="false" rot="0">
              <a:off x="0" y="0"/>
              <a:ext cx="3386201" cy="538353"/>
            </a:xfrm>
            <a:custGeom>
              <a:avLst/>
              <a:gdLst/>
              <a:ahLst/>
              <a:cxnLst/>
              <a:rect r="r" b="b" t="t" l="l"/>
              <a:pathLst>
                <a:path h="538353" w="3386201">
                  <a:moveTo>
                    <a:pt x="0" y="42545"/>
                  </a:moveTo>
                  <a:cubicBezTo>
                    <a:pt x="0" y="19050"/>
                    <a:pt x="19050" y="0"/>
                    <a:pt x="42545" y="0"/>
                  </a:cubicBezTo>
                  <a:lnTo>
                    <a:pt x="3343656" y="0"/>
                  </a:lnTo>
                  <a:cubicBezTo>
                    <a:pt x="3367151" y="0"/>
                    <a:pt x="3386201" y="19050"/>
                    <a:pt x="3386201" y="42545"/>
                  </a:cubicBezTo>
                  <a:lnTo>
                    <a:pt x="3386201" y="495808"/>
                  </a:lnTo>
                  <a:cubicBezTo>
                    <a:pt x="3386201" y="519303"/>
                    <a:pt x="3367151" y="538353"/>
                    <a:pt x="3343656" y="538353"/>
                  </a:cubicBezTo>
                  <a:lnTo>
                    <a:pt x="42545" y="538353"/>
                  </a:lnTo>
                  <a:cubicBezTo>
                    <a:pt x="19050" y="538353"/>
                    <a:pt x="0" y="519303"/>
                    <a:pt x="0" y="495808"/>
                  </a:cubicBezTo>
                  <a:close/>
                </a:path>
              </a:pathLst>
            </a:custGeom>
            <a:solidFill>
              <a:srgbClr val="D7D6F5"/>
            </a:solidFill>
          </p:spPr>
        </p:sp>
      </p:grpSp>
      <p:sp>
        <p:nvSpPr>
          <p:cNvPr name="TextBox 11" id="11"/>
          <p:cNvSpPr txBox="true"/>
          <p:nvPr/>
        </p:nvSpPr>
        <p:spPr>
          <a:xfrm rot="0">
            <a:off x="1151630" y="5492953"/>
            <a:ext cx="3135211" cy="235001"/>
          </a:xfrm>
          <a:prstGeom prst="rect">
            <a:avLst/>
          </a:prstGeom>
        </p:spPr>
        <p:txBody>
          <a:bodyPr anchor="t" rtlCol="false" tIns="0" lIns="0" bIns="0" rIns="0">
            <a:spAutoFit/>
          </a:bodyPr>
          <a:lstStyle/>
          <a:p>
            <a:pPr algn="l">
              <a:lnSpc>
                <a:spcPts val="1843"/>
              </a:lnSpc>
            </a:pPr>
            <a:r>
              <a:rPr lang="en-US" sz="1600">
                <a:solidFill>
                  <a:srgbClr val="49495A"/>
                </a:solidFill>
                <a:latin typeface="Open Sans"/>
                <a:ea typeface="Open Sans"/>
                <a:cs typeface="Open Sans"/>
                <a:sym typeface="Open Sans"/>
              </a:rPr>
              <a:t>LIVE DEMO AVAILABLE</a:t>
            </a:r>
          </a:p>
        </p:txBody>
      </p:sp>
      <p:grpSp>
        <p:nvGrpSpPr>
          <p:cNvPr name="Group 12" id="12"/>
          <p:cNvGrpSpPr/>
          <p:nvPr/>
        </p:nvGrpSpPr>
        <p:grpSpPr>
          <a:xfrm rot="0">
            <a:off x="3659981" y="5399037"/>
            <a:ext cx="2990402" cy="413299"/>
            <a:chOff x="0" y="0"/>
            <a:chExt cx="3987203" cy="551066"/>
          </a:xfrm>
        </p:grpSpPr>
        <p:sp>
          <p:nvSpPr>
            <p:cNvPr name="Freeform 13" id="13"/>
            <p:cNvSpPr/>
            <p:nvPr/>
          </p:nvSpPr>
          <p:spPr>
            <a:xfrm flipH="false" flipV="false" rot="0">
              <a:off x="0" y="0"/>
              <a:ext cx="3987292" cy="551053"/>
            </a:xfrm>
            <a:custGeom>
              <a:avLst/>
              <a:gdLst/>
              <a:ahLst/>
              <a:cxnLst/>
              <a:rect r="r" b="b" t="t" l="l"/>
              <a:pathLst>
                <a:path h="551053" w="3987292">
                  <a:moveTo>
                    <a:pt x="0" y="43561"/>
                  </a:moveTo>
                  <a:cubicBezTo>
                    <a:pt x="0" y="19431"/>
                    <a:pt x="19431" y="0"/>
                    <a:pt x="43561" y="0"/>
                  </a:cubicBezTo>
                  <a:lnTo>
                    <a:pt x="3943731" y="0"/>
                  </a:lnTo>
                  <a:cubicBezTo>
                    <a:pt x="3967734" y="0"/>
                    <a:pt x="3987292" y="19431"/>
                    <a:pt x="3987292" y="43561"/>
                  </a:cubicBezTo>
                  <a:lnTo>
                    <a:pt x="3987292" y="507492"/>
                  </a:lnTo>
                  <a:cubicBezTo>
                    <a:pt x="3987292" y="531495"/>
                    <a:pt x="3967861" y="551053"/>
                    <a:pt x="3943731" y="551053"/>
                  </a:cubicBezTo>
                  <a:lnTo>
                    <a:pt x="43561" y="551053"/>
                  </a:lnTo>
                  <a:cubicBezTo>
                    <a:pt x="19431" y="551053"/>
                    <a:pt x="0" y="531622"/>
                    <a:pt x="0" y="507492"/>
                  </a:cubicBezTo>
                  <a:close/>
                </a:path>
              </a:pathLst>
            </a:custGeom>
            <a:blipFill>
              <a:blip r:embed="rId3">
                <a:alphaModFix amt="0"/>
              </a:blip>
              <a:stretch>
                <a:fillRect l="0" t="-90984" r="2" b="-90987"/>
              </a:stretch>
            </a:blipFill>
            <a:ln w="9526" cap="sq">
              <a:solidFill>
                <a:srgbClr val="403CCF"/>
              </a:solidFill>
              <a:prstDash val="solid"/>
              <a:miter/>
            </a:ln>
          </p:spPr>
        </p:sp>
      </p:grpSp>
      <p:sp>
        <p:nvSpPr>
          <p:cNvPr name="TextBox 14" id="14"/>
          <p:cNvSpPr txBox="true"/>
          <p:nvPr/>
        </p:nvSpPr>
        <p:spPr>
          <a:xfrm rot="0">
            <a:off x="3824135" y="5492953"/>
            <a:ext cx="3576485" cy="235001"/>
          </a:xfrm>
          <a:prstGeom prst="rect">
            <a:avLst/>
          </a:prstGeom>
        </p:spPr>
        <p:txBody>
          <a:bodyPr anchor="t" rtlCol="false" tIns="0" lIns="0" bIns="0" rIns="0">
            <a:spAutoFit/>
          </a:bodyPr>
          <a:lstStyle/>
          <a:p>
            <a:pPr algn="l">
              <a:lnSpc>
                <a:spcPts val="1843"/>
              </a:lnSpc>
            </a:pPr>
            <a:r>
              <a:rPr lang="en-US" sz="1600">
                <a:solidFill>
                  <a:srgbClr val="403CCF"/>
                </a:solidFill>
                <a:latin typeface="Open Sans"/>
                <a:ea typeface="Open Sans"/>
                <a:cs typeface="Open Sans"/>
                <a:sym typeface="Open Sans"/>
              </a:rPr>
              <a:t>OPEN SOURCE ON GITHUB</a:t>
            </a:r>
          </a:p>
        </p:txBody>
      </p:sp>
      <p:sp>
        <p:nvSpPr>
          <p:cNvPr name="TextBox 15" id="15"/>
          <p:cNvSpPr txBox="true"/>
          <p:nvPr/>
        </p:nvSpPr>
        <p:spPr>
          <a:xfrm rot="0">
            <a:off x="992238" y="6021143"/>
            <a:ext cx="17217923" cy="478631"/>
          </a:xfrm>
          <a:prstGeom prst="rect">
            <a:avLst/>
          </a:prstGeom>
        </p:spPr>
        <p:txBody>
          <a:bodyPr anchor="t" rtlCol="false" tIns="0" lIns="0" bIns="0" rIns="0">
            <a:spAutoFit/>
          </a:bodyPr>
          <a:lstStyle/>
          <a:p>
            <a:pPr algn="l">
              <a:lnSpc>
                <a:spcPts val="3096"/>
              </a:lnSpc>
            </a:pPr>
            <a:r>
              <a:rPr lang="en-US" sz="2000">
                <a:solidFill>
                  <a:srgbClr val="49495A"/>
                </a:solidFill>
                <a:latin typeface="Open Sans"/>
                <a:ea typeface="Open Sans"/>
                <a:cs typeface="Open Sans"/>
                <a:sym typeface="Open Sans"/>
              </a:rPr>
              <a:t>Developer: </a:t>
            </a:r>
            <a:r>
              <a:rPr lang="en-US" sz="2000" b="true">
                <a:solidFill>
                  <a:srgbClr val="49495A"/>
                </a:solidFill>
                <a:latin typeface="Open Sans Bold"/>
                <a:ea typeface="Open Sans Bold"/>
                <a:cs typeface="Open Sans Bold"/>
                <a:sym typeface="Open Sans Bold"/>
              </a:rPr>
              <a:t>Ankani Balaji</a:t>
            </a:r>
            <a:r>
              <a:rPr lang="en-US" sz="2000">
                <a:solidFill>
                  <a:srgbClr val="49495A"/>
                </a:solidFill>
                <a:latin typeface="Open Sans"/>
                <a:ea typeface="Open Sans"/>
                <a:cs typeface="Open Sans"/>
                <a:sym typeface="Open Sans"/>
              </a:rPr>
              <a:t> · Role: Frontend Developer (React)</a:t>
            </a:r>
          </a:p>
        </p:txBody>
      </p:sp>
      <p:grpSp>
        <p:nvGrpSpPr>
          <p:cNvPr name="Group 16" id="16"/>
          <p:cNvGrpSpPr/>
          <p:nvPr/>
        </p:nvGrpSpPr>
        <p:grpSpPr>
          <a:xfrm rot="0">
            <a:off x="992238" y="6780009"/>
            <a:ext cx="16303523" cy="2665809"/>
            <a:chOff x="0" y="0"/>
            <a:chExt cx="21738031" cy="3554412"/>
          </a:xfrm>
        </p:grpSpPr>
        <p:sp>
          <p:nvSpPr>
            <p:cNvPr name="Freeform 17" id="17"/>
            <p:cNvSpPr/>
            <p:nvPr/>
          </p:nvSpPr>
          <p:spPr>
            <a:xfrm flipH="false" flipV="false" rot="0">
              <a:off x="0" y="0"/>
              <a:ext cx="21738082" cy="3554476"/>
            </a:xfrm>
            <a:custGeom>
              <a:avLst/>
              <a:gdLst/>
              <a:ahLst/>
              <a:cxnLst/>
              <a:rect r="r" b="b" t="t" l="l"/>
              <a:pathLst>
                <a:path h="3554476" w="21738082">
                  <a:moveTo>
                    <a:pt x="0" y="53213"/>
                  </a:moveTo>
                  <a:cubicBezTo>
                    <a:pt x="0" y="23749"/>
                    <a:pt x="23749" y="0"/>
                    <a:pt x="53213" y="0"/>
                  </a:cubicBezTo>
                  <a:lnTo>
                    <a:pt x="21684869" y="0"/>
                  </a:lnTo>
                  <a:cubicBezTo>
                    <a:pt x="21714206" y="0"/>
                    <a:pt x="21738082" y="23749"/>
                    <a:pt x="21738082" y="53213"/>
                  </a:cubicBezTo>
                  <a:lnTo>
                    <a:pt x="21738082" y="3501263"/>
                  </a:lnTo>
                  <a:cubicBezTo>
                    <a:pt x="21738082" y="3530600"/>
                    <a:pt x="21714333" y="3554476"/>
                    <a:pt x="21684869" y="3554476"/>
                  </a:cubicBezTo>
                  <a:lnTo>
                    <a:pt x="53213" y="3554476"/>
                  </a:lnTo>
                  <a:cubicBezTo>
                    <a:pt x="23749" y="3554476"/>
                    <a:pt x="0" y="3530600"/>
                    <a:pt x="0" y="3501263"/>
                  </a:cubicBezTo>
                  <a:close/>
                </a:path>
              </a:pathLst>
            </a:custGeom>
            <a:solidFill>
              <a:srgbClr val="D7D6F5"/>
            </a:solidFill>
          </p:spPr>
        </p:sp>
      </p:grpSp>
      <p:grpSp>
        <p:nvGrpSpPr>
          <p:cNvPr name="Group 18" id="18"/>
          <p:cNvGrpSpPr/>
          <p:nvPr/>
        </p:nvGrpSpPr>
        <p:grpSpPr>
          <a:xfrm rot="0">
            <a:off x="1258043" y="7155809"/>
            <a:ext cx="332184" cy="265805"/>
            <a:chOff x="0" y="0"/>
            <a:chExt cx="442912" cy="354406"/>
          </a:xfrm>
        </p:grpSpPr>
        <p:sp>
          <p:nvSpPr>
            <p:cNvPr name="Freeform 19" id="19" descr="preencoded.png"/>
            <p:cNvSpPr/>
            <p:nvPr/>
          </p:nvSpPr>
          <p:spPr>
            <a:xfrm flipH="false" flipV="false" rot="0">
              <a:off x="0" y="0"/>
              <a:ext cx="442849" cy="354457"/>
            </a:xfrm>
            <a:custGeom>
              <a:avLst/>
              <a:gdLst/>
              <a:ahLst/>
              <a:cxnLst/>
              <a:rect r="r" b="b" t="t" l="l"/>
              <a:pathLst>
                <a:path h="354457" w="442849">
                  <a:moveTo>
                    <a:pt x="0" y="0"/>
                  </a:moveTo>
                  <a:lnTo>
                    <a:pt x="442849" y="0"/>
                  </a:lnTo>
                  <a:lnTo>
                    <a:pt x="442849" y="354457"/>
                  </a:lnTo>
                  <a:lnTo>
                    <a:pt x="0" y="354457"/>
                  </a:lnTo>
                  <a:lnTo>
                    <a:pt x="0" y="0"/>
                  </a:lnTo>
                  <a:close/>
                </a:path>
              </a:pathLst>
            </a:custGeom>
            <a:blipFill>
              <a:blip r:embed="rId4"/>
              <a:stretch>
                <a:fillRect l="-11" t="0" r="-25" b="14"/>
              </a:stretch>
            </a:blipFill>
          </p:spPr>
        </p:sp>
      </p:grpSp>
      <p:sp>
        <p:nvSpPr>
          <p:cNvPr name="TextBox 20" id="20"/>
          <p:cNvSpPr txBox="true"/>
          <p:nvPr/>
        </p:nvSpPr>
        <p:spPr>
          <a:xfrm rot="0">
            <a:off x="1856032" y="7028859"/>
            <a:ext cx="15173916" cy="2126456"/>
          </a:xfrm>
          <a:prstGeom prst="rect">
            <a:avLst/>
          </a:prstGeom>
        </p:spPr>
        <p:txBody>
          <a:bodyPr anchor="t" rtlCol="false" tIns="0" lIns="0" bIns="0" rIns="0">
            <a:spAutoFit/>
          </a:bodyPr>
          <a:lstStyle/>
          <a:p>
            <a:pPr algn="l">
              <a:lnSpc>
                <a:spcPts val="3096"/>
              </a:lnSpc>
            </a:pPr>
            <a:r>
              <a:rPr lang="en-US" sz="2000" b="true">
                <a:solidFill>
                  <a:srgbClr val="000000"/>
                </a:solidFill>
                <a:latin typeface="Open Sans Bold"/>
                <a:ea typeface="Open Sans Bold"/>
                <a:cs typeface="Open Sans Bold"/>
                <a:sym typeface="Open Sans Bold"/>
              </a:rPr>
              <a:t>Speaker Notes:</a:t>
            </a:r>
            <a:r>
              <a:rPr lang="en-US" sz="2000">
                <a:solidFill>
                  <a:srgbClr val="000000"/>
                </a:solidFill>
                <a:latin typeface="Open Sans"/>
                <a:ea typeface="Open Sans"/>
                <a:cs typeface="Open Sans"/>
                <a:sym typeface="Open Sans"/>
              </a:rPr>
              <a:t> ElectroMart is a production-grade e-commerce web application I built to demonstrate modern frontend engineering skills. It features a complete user shopping experience — product browsing, cart management, wishlist, checkout, and Razorpay payment integration — all backed by a Redux-powered state architecture. The live demo is deployed on Vercel, and the full source code is available on GitHub. I'll walk you through the architecture, key features, and technical decisions in this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885825"/>
            <a:ext cx="16303523" cy="655739"/>
          </a:xfrm>
          <a:prstGeom prst="rect">
            <a:avLst/>
          </a:prstGeom>
        </p:spPr>
        <p:txBody>
          <a:bodyPr anchor="t" rtlCol="false" tIns="0" lIns="0" bIns="0" rIns="0">
            <a:spAutoFit/>
          </a:bodyPr>
          <a:lstStyle/>
          <a:p>
            <a:pPr algn="l">
              <a:lnSpc>
                <a:spcPts val="4992"/>
              </a:lnSpc>
            </a:pPr>
            <a:r>
              <a:rPr lang="en-US" sz="4000">
                <a:solidFill>
                  <a:srgbClr val="403CCF"/>
                </a:solidFill>
                <a:latin typeface="Libre Baskerville"/>
                <a:ea typeface="Libre Baskerville"/>
                <a:cs typeface="Libre Baskerville"/>
                <a:sym typeface="Libre Baskerville"/>
              </a:rPr>
              <a:t>Project Overview</a:t>
            </a:r>
          </a:p>
        </p:txBody>
      </p:sp>
      <p:grpSp>
        <p:nvGrpSpPr>
          <p:cNvPr name="Group 7" id="7"/>
          <p:cNvGrpSpPr/>
          <p:nvPr/>
        </p:nvGrpSpPr>
        <p:grpSpPr>
          <a:xfrm rot="0">
            <a:off x="992238" y="1925984"/>
            <a:ext cx="10423179" cy="5906395"/>
            <a:chOff x="0" y="0"/>
            <a:chExt cx="13897572" cy="7875194"/>
          </a:xfrm>
        </p:grpSpPr>
        <p:sp>
          <p:nvSpPr>
            <p:cNvPr name="Freeform 8" id="8" descr="preencoded.png"/>
            <p:cNvSpPr/>
            <p:nvPr/>
          </p:nvSpPr>
          <p:spPr>
            <a:xfrm flipH="false" flipV="false" rot="0">
              <a:off x="0" y="0"/>
              <a:ext cx="13897611" cy="7875143"/>
            </a:xfrm>
            <a:custGeom>
              <a:avLst/>
              <a:gdLst/>
              <a:ahLst/>
              <a:cxnLst/>
              <a:rect r="r" b="b" t="t" l="l"/>
              <a:pathLst>
                <a:path h="7875143" w="13897611">
                  <a:moveTo>
                    <a:pt x="0" y="0"/>
                  </a:moveTo>
                  <a:lnTo>
                    <a:pt x="13897611" y="0"/>
                  </a:lnTo>
                  <a:lnTo>
                    <a:pt x="13897611" y="7875143"/>
                  </a:lnTo>
                  <a:lnTo>
                    <a:pt x="0" y="7875143"/>
                  </a:lnTo>
                  <a:lnTo>
                    <a:pt x="0" y="0"/>
                  </a:lnTo>
                  <a:close/>
                </a:path>
              </a:pathLst>
            </a:custGeom>
            <a:blipFill>
              <a:blip r:embed="rId3"/>
              <a:stretch>
                <a:fillRect l="0" t="-40" r="0" b="-41"/>
              </a:stretch>
            </a:blipFill>
          </p:spPr>
        </p:sp>
      </p:grpSp>
      <p:sp>
        <p:nvSpPr>
          <p:cNvPr name="TextBox 9" id="9"/>
          <p:cNvSpPr txBox="true"/>
          <p:nvPr/>
        </p:nvSpPr>
        <p:spPr>
          <a:xfrm rot="0">
            <a:off x="11922023" y="2605678"/>
            <a:ext cx="5383111" cy="318487"/>
          </a:xfrm>
          <a:prstGeom prst="rect">
            <a:avLst/>
          </a:prstGeom>
        </p:spPr>
        <p:txBody>
          <a:bodyPr anchor="t" rtlCol="false" tIns="0" lIns="0" bIns="0" rIns="0">
            <a:spAutoFit/>
          </a:bodyPr>
          <a:lstStyle/>
          <a:p>
            <a:pPr algn="l">
              <a:lnSpc>
                <a:spcPts val="2496"/>
              </a:lnSpc>
            </a:pPr>
            <a:r>
              <a:rPr lang="en-US" sz="2000">
                <a:solidFill>
                  <a:srgbClr val="403CCF"/>
                </a:solidFill>
                <a:latin typeface="Libre Baskerville"/>
                <a:ea typeface="Libre Baskerville"/>
                <a:cs typeface="Libre Baskerville"/>
                <a:sym typeface="Libre Baskerville"/>
              </a:rPr>
              <a:t>The Problem</a:t>
            </a:r>
          </a:p>
        </p:txBody>
      </p:sp>
      <p:sp>
        <p:nvSpPr>
          <p:cNvPr name="TextBox 10" id="10"/>
          <p:cNvSpPr txBox="true"/>
          <p:nvPr/>
        </p:nvSpPr>
        <p:spPr>
          <a:xfrm rot="0">
            <a:off x="11922023" y="3042047"/>
            <a:ext cx="5383111" cy="868861"/>
          </a:xfrm>
          <a:prstGeom prst="rect">
            <a:avLst/>
          </a:prstGeom>
        </p:spPr>
        <p:txBody>
          <a:bodyPr anchor="t" rtlCol="false" tIns="0" lIns="0" bIns="0" rIns="0">
            <a:spAutoFit/>
          </a:bodyPr>
          <a:lstStyle/>
          <a:p>
            <a:pPr algn="l">
              <a:lnSpc>
                <a:spcPts val="2208"/>
              </a:lnSpc>
            </a:pPr>
            <a:r>
              <a:rPr lang="en-US" sz="1600">
                <a:solidFill>
                  <a:srgbClr val="49495A"/>
                </a:solidFill>
                <a:latin typeface="Open Sans"/>
                <a:ea typeface="Open Sans"/>
                <a:cs typeface="Open Sans"/>
                <a:sym typeface="Open Sans"/>
              </a:rPr>
              <a:t>Many e-commerce platforms suffer from slow performance, poor state management, and fragmented user experiences — especially on mobile devices.</a:t>
            </a:r>
          </a:p>
        </p:txBody>
      </p:sp>
      <p:sp>
        <p:nvSpPr>
          <p:cNvPr name="TextBox 11" id="11"/>
          <p:cNvSpPr txBox="true"/>
          <p:nvPr/>
        </p:nvSpPr>
        <p:spPr>
          <a:xfrm rot="0">
            <a:off x="11922023" y="4057355"/>
            <a:ext cx="5383111" cy="318487"/>
          </a:xfrm>
          <a:prstGeom prst="rect">
            <a:avLst/>
          </a:prstGeom>
        </p:spPr>
        <p:txBody>
          <a:bodyPr anchor="t" rtlCol="false" tIns="0" lIns="0" bIns="0" rIns="0">
            <a:spAutoFit/>
          </a:bodyPr>
          <a:lstStyle/>
          <a:p>
            <a:pPr algn="l">
              <a:lnSpc>
                <a:spcPts val="2496"/>
              </a:lnSpc>
            </a:pPr>
            <a:r>
              <a:rPr lang="en-US" sz="2000">
                <a:solidFill>
                  <a:srgbClr val="403CCF"/>
                </a:solidFill>
                <a:latin typeface="Libre Baskerville"/>
                <a:ea typeface="Libre Baskerville"/>
                <a:cs typeface="Libre Baskerville"/>
                <a:sym typeface="Libre Baskerville"/>
              </a:rPr>
              <a:t>The Solution</a:t>
            </a:r>
          </a:p>
        </p:txBody>
      </p:sp>
      <p:sp>
        <p:nvSpPr>
          <p:cNvPr name="TextBox 12" id="12"/>
          <p:cNvSpPr txBox="true"/>
          <p:nvPr/>
        </p:nvSpPr>
        <p:spPr>
          <a:xfrm rot="0">
            <a:off x="11922023" y="4493714"/>
            <a:ext cx="5383111" cy="868861"/>
          </a:xfrm>
          <a:prstGeom prst="rect">
            <a:avLst/>
          </a:prstGeom>
        </p:spPr>
        <p:txBody>
          <a:bodyPr anchor="t" rtlCol="false" tIns="0" lIns="0" bIns="0" rIns="0">
            <a:spAutoFit/>
          </a:bodyPr>
          <a:lstStyle/>
          <a:p>
            <a:pPr algn="l">
              <a:lnSpc>
                <a:spcPts val="2208"/>
              </a:lnSpc>
            </a:pPr>
            <a:r>
              <a:rPr lang="en-US" sz="1600">
                <a:solidFill>
                  <a:srgbClr val="49495A"/>
                </a:solidFill>
                <a:latin typeface="Open Sans"/>
                <a:ea typeface="Open Sans"/>
                <a:cs typeface="Open Sans"/>
                <a:sym typeface="Open Sans"/>
              </a:rPr>
              <a:t>ElectroMart delivers a fast, responsive, and intuitive shopping experience with a clean architecture built for scalability and maintainability.</a:t>
            </a:r>
          </a:p>
        </p:txBody>
      </p:sp>
      <p:sp>
        <p:nvSpPr>
          <p:cNvPr name="TextBox 13" id="13"/>
          <p:cNvSpPr txBox="true"/>
          <p:nvPr/>
        </p:nvSpPr>
        <p:spPr>
          <a:xfrm rot="0">
            <a:off x="11922023" y="5509022"/>
            <a:ext cx="5383111" cy="318487"/>
          </a:xfrm>
          <a:prstGeom prst="rect">
            <a:avLst/>
          </a:prstGeom>
        </p:spPr>
        <p:txBody>
          <a:bodyPr anchor="t" rtlCol="false" tIns="0" lIns="0" bIns="0" rIns="0">
            <a:spAutoFit/>
          </a:bodyPr>
          <a:lstStyle/>
          <a:p>
            <a:pPr algn="l">
              <a:lnSpc>
                <a:spcPts val="2496"/>
              </a:lnSpc>
            </a:pPr>
            <a:r>
              <a:rPr lang="en-US" sz="2000">
                <a:solidFill>
                  <a:srgbClr val="403CCF"/>
                </a:solidFill>
                <a:latin typeface="Libre Baskerville"/>
                <a:ea typeface="Libre Baskerville"/>
                <a:cs typeface="Libre Baskerville"/>
                <a:sym typeface="Libre Baskerville"/>
              </a:rPr>
              <a:t>Core Objectives</a:t>
            </a:r>
          </a:p>
        </p:txBody>
      </p:sp>
      <p:sp>
        <p:nvSpPr>
          <p:cNvPr name="TextBox 14" id="14"/>
          <p:cNvSpPr txBox="true"/>
          <p:nvPr/>
        </p:nvSpPr>
        <p:spPr>
          <a:xfrm rot="0">
            <a:off x="11922023" y="5945381"/>
            <a:ext cx="5383111" cy="1302544"/>
          </a:xfrm>
          <a:prstGeom prst="rect">
            <a:avLst/>
          </a:prstGeom>
        </p:spPr>
        <p:txBody>
          <a:bodyPr anchor="t" rtlCol="false" tIns="0" lIns="0" bIns="0" rIns="0">
            <a:spAutoFit/>
          </a:bodyPr>
          <a:lstStyle/>
          <a:p>
            <a:pPr algn="l" marL="386080" indent="-193040" lvl="1">
              <a:lnSpc>
                <a:spcPts val="2208"/>
              </a:lnSpc>
              <a:buFont typeface="Arial"/>
              <a:buChar char="•"/>
            </a:pPr>
            <a:r>
              <a:rPr lang="en-US" sz="1600">
                <a:solidFill>
                  <a:srgbClr val="49495A"/>
                </a:solidFill>
                <a:latin typeface="Open Sans"/>
                <a:ea typeface="Open Sans"/>
                <a:cs typeface="Open Sans"/>
                <a:sym typeface="Open Sans"/>
              </a:rPr>
              <a:t>Seamless product discovery and filtering</a:t>
            </a:r>
          </a:p>
          <a:p>
            <a:pPr algn="l" marL="386080" indent="-193040" lvl="1">
              <a:lnSpc>
                <a:spcPts val="2208"/>
              </a:lnSpc>
              <a:buFont typeface="Arial"/>
              <a:buChar char="•"/>
            </a:pPr>
            <a:r>
              <a:rPr lang="en-US" sz="1600">
                <a:solidFill>
                  <a:srgbClr val="49495A"/>
                </a:solidFill>
                <a:latin typeface="Open Sans"/>
                <a:ea typeface="Open Sans"/>
                <a:cs typeface="Open Sans"/>
                <a:sym typeface="Open Sans"/>
              </a:rPr>
              <a:t>Robust cart and wishlist management</a:t>
            </a:r>
          </a:p>
          <a:p>
            <a:pPr algn="l" marL="386080" indent="-193040" lvl="1">
              <a:lnSpc>
                <a:spcPts val="2208"/>
              </a:lnSpc>
              <a:buFont typeface="Arial"/>
              <a:buChar char="•"/>
            </a:pPr>
            <a:r>
              <a:rPr lang="en-US" sz="1600">
                <a:solidFill>
                  <a:srgbClr val="49495A"/>
                </a:solidFill>
                <a:latin typeface="Open Sans"/>
                <a:ea typeface="Open Sans"/>
                <a:cs typeface="Open Sans"/>
                <a:sym typeface="Open Sans"/>
              </a:rPr>
              <a:t>Secure authentication and payment flow</a:t>
            </a:r>
          </a:p>
          <a:p>
            <a:pPr algn="l" marL="386080" indent="-193040" lvl="1">
              <a:lnSpc>
                <a:spcPts val="2208"/>
              </a:lnSpc>
              <a:buFont typeface="Arial"/>
              <a:buChar char="•"/>
            </a:pPr>
            <a:r>
              <a:rPr lang="en-US" sz="1600">
                <a:solidFill>
                  <a:srgbClr val="49495A"/>
                </a:solidFill>
                <a:latin typeface="Open Sans"/>
                <a:ea typeface="Open Sans"/>
                <a:cs typeface="Open Sans"/>
                <a:sym typeface="Open Sans"/>
              </a:rPr>
              <a:t>Production-ready, scalable codebase</a:t>
            </a:r>
          </a:p>
        </p:txBody>
      </p:sp>
      <p:grpSp>
        <p:nvGrpSpPr>
          <p:cNvPr name="Group 15" id="15"/>
          <p:cNvGrpSpPr/>
          <p:nvPr/>
        </p:nvGrpSpPr>
        <p:grpSpPr>
          <a:xfrm rot="0">
            <a:off x="992238" y="8161887"/>
            <a:ext cx="16303523" cy="1220238"/>
            <a:chOff x="0" y="0"/>
            <a:chExt cx="21738031" cy="1626984"/>
          </a:xfrm>
        </p:grpSpPr>
        <p:sp>
          <p:nvSpPr>
            <p:cNvPr name="Freeform 16" id="16"/>
            <p:cNvSpPr/>
            <p:nvPr/>
          </p:nvSpPr>
          <p:spPr>
            <a:xfrm flipH="false" flipV="false" rot="0">
              <a:off x="0" y="0"/>
              <a:ext cx="21738081" cy="1626997"/>
            </a:xfrm>
            <a:custGeom>
              <a:avLst/>
              <a:gdLst/>
              <a:ahLst/>
              <a:cxnLst/>
              <a:rect r="r" b="b" t="t" l="l"/>
              <a:pathLst>
                <a:path h="1626997" w="21738081">
                  <a:moveTo>
                    <a:pt x="0" y="40767"/>
                  </a:moveTo>
                  <a:cubicBezTo>
                    <a:pt x="0" y="18288"/>
                    <a:pt x="18288" y="0"/>
                    <a:pt x="40767" y="0"/>
                  </a:cubicBezTo>
                  <a:lnTo>
                    <a:pt x="21697314" y="0"/>
                  </a:lnTo>
                  <a:cubicBezTo>
                    <a:pt x="21719794" y="0"/>
                    <a:pt x="21738081" y="18288"/>
                    <a:pt x="21738081" y="40767"/>
                  </a:cubicBezTo>
                  <a:lnTo>
                    <a:pt x="21738081" y="1586230"/>
                  </a:lnTo>
                  <a:cubicBezTo>
                    <a:pt x="21738081" y="1608709"/>
                    <a:pt x="21719794" y="1626997"/>
                    <a:pt x="21697314" y="1626997"/>
                  </a:cubicBezTo>
                  <a:lnTo>
                    <a:pt x="40767" y="1626997"/>
                  </a:lnTo>
                  <a:cubicBezTo>
                    <a:pt x="18288" y="1626997"/>
                    <a:pt x="0" y="1608709"/>
                    <a:pt x="0" y="1586230"/>
                  </a:cubicBezTo>
                  <a:close/>
                </a:path>
              </a:pathLst>
            </a:custGeom>
            <a:solidFill>
              <a:srgbClr val="D7D6F5"/>
            </a:solidFill>
          </p:spPr>
        </p:sp>
      </p:grpSp>
      <p:grpSp>
        <p:nvGrpSpPr>
          <p:cNvPr name="Group 17" id="17"/>
          <p:cNvGrpSpPr/>
          <p:nvPr/>
        </p:nvGrpSpPr>
        <p:grpSpPr>
          <a:xfrm rot="0">
            <a:off x="1195978" y="8428730"/>
            <a:ext cx="254641" cy="203749"/>
            <a:chOff x="0" y="0"/>
            <a:chExt cx="339522" cy="271666"/>
          </a:xfrm>
        </p:grpSpPr>
        <p:sp>
          <p:nvSpPr>
            <p:cNvPr name="Freeform 18" id="18" descr="preencoded.png"/>
            <p:cNvSpPr/>
            <p:nvPr/>
          </p:nvSpPr>
          <p:spPr>
            <a:xfrm flipH="false" flipV="false" rot="0">
              <a:off x="0" y="0"/>
              <a:ext cx="339471" cy="271653"/>
            </a:xfrm>
            <a:custGeom>
              <a:avLst/>
              <a:gdLst/>
              <a:ahLst/>
              <a:cxnLst/>
              <a:rect r="r" b="b" t="t" l="l"/>
              <a:pathLst>
                <a:path h="271653" w="339471">
                  <a:moveTo>
                    <a:pt x="0" y="0"/>
                  </a:moveTo>
                  <a:lnTo>
                    <a:pt x="339471" y="0"/>
                  </a:lnTo>
                  <a:lnTo>
                    <a:pt x="339471" y="271653"/>
                  </a:lnTo>
                  <a:lnTo>
                    <a:pt x="0" y="271653"/>
                  </a:lnTo>
                  <a:lnTo>
                    <a:pt x="0" y="0"/>
                  </a:lnTo>
                  <a:close/>
                </a:path>
              </a:pathLst>
            </a:custGeom>
            <a:blipFill>
              <a:blip r:embed="rId4"/>
              <a:stretch>
                <a:fillRect l="0" t="-916" r="-14" b="-920"/>
              </a:stretch>
            </a:blipFill>
          </p:spPr>
        </p:sp>
      </p:grpSp>
      <p:sp>
        <p:nvSpPr>
          <p:cNvPr name="TextBox 19" id="19"/>
          <p:cNvSpPr txBox="true"/>
          <p:nvPr/>
        </p:nvSpPr>
        <p:spPr>
          <a:xfrm rot="0">
            <a:off x="1654378" y="8330651"/>
            <a:ext cx="15437644" cy="868861"/>
          </a:xfrm>
          <a:prstGeom prst="rect">
            <a:avLst/>
          </a:prstGeom>
        </p:spPr>
        <p:txBody>
          <a:bodyPr anchor="t" rtlCol="false" tIns="0" lIns="0" bIns="0" rIns="0">
            <a:spAutoFit/>
          </a:bodyPr>
          <a:lstStyle/>
          <a:p>
            <a:pPr algn="l">
              <a:lnSpc>
                <a:spcPts val="2208"/>
              </a:lnSpc>
            </a:pPr>
            <a:r>
              <a:rPr lang="en-US" sz="1600" b="true">
                <a:solidFill>
                  <a:srgbClr val="000000"/>
                </a:solidFill>
                <a:latin typeface="Open Sans Bold"/>
                <a:ea typeface="Open Sans Bold"/>
                <a:cs typeface="Open Sans Bold"/>
                <a:sym typeface="Open Sans Bold"/>
              </a:rPr>
              <a:t>Speaker Notes:</a:t>
            </a:r>
            <a:r>
              <a:rPr lang="en-US" sz="1600">
                <a:solidFill>
                  <a:srgbClr val="000000"/>
                </a:solidFill>
                <a:latin typeface="Open Sans"/>
                <a:ea typeface="Open Sans"/>
                <a:cs typeface="Open Sans"/>
                <a:sym typeface="Open Sans"/>
              </a:rPr>
              <a:t> I built ElectroMart to solve real pain points I observed in existing e-commerce platforms — slow load times, inconsistent state management, and poor mobile experiences. The project demonstrates my ability to architect a complete shopping flow with proper state management using Redux Toolkit, RESTful API integration via Axios, and a responsive UI. Every feature — from product search to payment — was designed with scalability and user experience in mind.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96080"/>
            <a:ext cx="16303523" cy="724938"/>
          </a:xfrm>
          <a:prstGeom prst="rect">
            <a:avLst/>
          </a:prstGeom>
        </p:spPr>
        <p:txBody>
          <a:bodyPr anchor="t" rtlCol="false" tIns="0" lIns="0" bIns="0" rIns="0">
            <a:spAutoFit/>
          </a:bodyPr>
          <a:lstStyle/>
          <a:p>
            <a:pPr algn="l">
              <a:lnSpc>
                <a:spcPts val="5491"/>
              </a:lnSpc>
            </a:pPr>
            <a:r>
              <a:rPr lang="en-US" sz="4400">
                <a:solidFill>
                  <a:srgbClr val="403CCF"/>
                </a:solidFill>
                <a:latin typeface="Libre Baskerville"/>
                <a:ea typeface="Libre Baskerville"/>
                <a:cs typeface="Libre Baskerville"/>
                <a:sym typeface="Libre Baskerville"/>
              </a:rPr>
              <a:t>Key Features</a:t>
            </a:r>
          </a:p>
        </p:txBody>
      </p:sp>
      <p:sp>
        <p:nvSpPr>
          <p:cNvPr name="TextBox 7" id="7"/>
          <p:cNvSpPr txBox="true"/>
          <p:nvPr/>
        </p:nvSpPr>
        <p:spPr>
          <a:xfrm rot="0">
            <a:off x="992238" y="1842935"/>
            <a:ext cx="17217923"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A complete shopping experience — from discovery to checkout.</a:t>
            </a:r>
          </a:p>
        </p:txBody>
      </p:sp>
      <p:sp>
        <p:nvSpPr>
          <p:cNvPr name="Freeform 8" id="8" descr="preencoded.png"/>
          <p:cNvSpPr/>
          <p:nvPr/>
        </p:nvSpPr>
        <p:spPr>
          <a:xfrm flipH="false" flipV="false" rot="0">
            <a:off x="992238" y="2408187"/>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3">
              <a:extLst>
                <a:ext uri="{96DAC541-7B7A-43D3-8B79-37D633B846F1}">
                  <asvg:svgBlip xmlns:asvg="http://schemas.microsoft.com/office/drawing/2016/SVG/main" r:embed="rId4"/>
                </a:ext>
              </a:extLst>
            </a:blip>
            <a:stretch>
              <a:fillRect l="0" t="-6250" r="0" b="-6250"/>
            </a:stretch>
          </a:blipFill>
        </p:spPr>
      </p:sp>
      <p:sp>
        <p:nvSpPr>
          <p:cNvPr name="TextBox 9" id="9"/>
          <p:cNvSpPr txBox="true"/>
          <p:nvPr/>
        </p:nvSpPr>
        <p:spPr>
          <a:xfrm rot="0">
            <a:off x="992238" y="3075537"/>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User Module</a:t>
            </a:r>
          </a:p>
        </p:txBody>
      </p:sp>
      <p:sp>
        <p:nvSpPr>
          <p:cNvPr name="TextBox 10" id="10"/>
          <p:cNvSpPr txBox="true"/>
          <p:nvPr/>
        </p:nvSpPr>
        <p:spPr>
          <a:xfrm rot="0">
            <a:off x="992238" y="3507877"/>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Registration, login, protected routes, and personalized dashboards.</a:t>
            </a:r>
          </a:p>
        </p:txBody>
      </p:sp>
      <p:sp>
        <p:nvSpPr>
          <p:cNvPr name="Freeform 11" id="11" descr="preencoded.png"/>
          <p:cNvSpPr/>
          <p:nvPr/>
        </p:nvSpPr>
        <p:spPr>
          <a:xfrm flipH="false" flipV="false" rot="0">
            <a:off x="9256509" y="2408187"/>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5">
              <a:extLst>
                <a:ext uri="{96DAC541-7B7A-43D3-8B79-37D633B846F1}">
                  <asvg:svgBlip xmlns:asvg="http://schemas.microsoft.com/office/drawing/2016/SVG/main" r:embed="rId6"/>
                </a:ext>
              </a:extLst>
            </a:blip>
            <a:stretch>
              <a:fillRect l="-6250" t="0" r="-6250" b="0"/>
            </a:stretch>
          </a:blipFill>
        </p:spPr>
      </p:sp>
      <p:sp>
        <p:nvSpPr>
          <p:cNvPr name="TextBox 12" id="12"/>
          <p:cNvSpPr txBox="true"/>
          <p:nvPr/>
        </p:nvSpPr>
        <p:spPr>
          <a:xfrm rot="0">
            <a:off x="9256509" y="3075537"/>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Smart Cart</a:t>
            </a:r>
          </a:p>
        </p:txBody>
      </p:sp>
      <p:sp>
        <p:nvSpPr>
          <p:cNvPr name="TextBox 13" id="13"/>
          <p:cNvSpPr txBox="true"/>
          <p:nvPr/>
        </p:nvSpPr>
        <p:spPr>
          <a:xfrm rot="0">
            <a:off x="9256509" y="3507877"/>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Persistent cart with quantity controls and real-time total calculation.</a:t>
            </a:r>
          </a:p>
        </p:txBody>
      </p:sp>
      <p:sp>
        <p:nvSpPr>
          <p:cNvPr name="Freeform 14" id="14" descr="preencoded.png"/>
          <p:cNvSpPr/>
          <p:nvPr/>
        </p:nvSpPr>
        <p:spPr>
          <a:xfrm flipH="false" flipV="false" rot="0">
            <a:off x="992238" y="4230738"/>
            <a:ext cx="451837" cy="451837"/>
          </a:xfrm>
          <a:custGeom>
            <a:avLst/>
            <a:gdLst/>
            <a:ahLst/>
            <a:cxnLst/>
            <a:rect r="r" b="b" t="t" l="l"/>
            <a:pathLst>
              <a:path h="451837" w="451837">
                <a:moveTo>
                  <a:pt x="0" y="0"/>
                </a:moveTo>
                <a:lnTo>
                  <a:pt x="451838" y="0"/>
                </a:lnTo>
                <a:lnTo>
                  <a:pt x="451838" y="451838"/>
                </a:lnTo>
                <a:lnTo>
                  <a:pt x="0" y="451838"/>
                </a:lnTo>
                <a:lnTo>
                  <a:pt x="0" y="0"/>
                </a:lnTo>
                <a:close/>
              </a:path>
            </a:pathLst>
          </a:custGeom>
          <a:blipFill>
            <a:blip r:embed="rId7">
              <a:extLst>
                <a:ext uri="{96DAC541-7B7A-43D3-8B79-37D633B846F1}">
                  <asvg:svgBlip xmlns:asvg="http://schemas.microsoft.com/office/drawing/2016/SVG/main" r:embed="rId8"/>
                </a:ext>
              </a:extLst>
            </a:blip>
            <a:stretch>
              <a:fillRect l="-5209" t="0" r="-5209" b="0"/>
            </a:stretch>
          </a:blipFill>
        </p:spPr>
      </p:sp>
      <p:sp>
        <p:nvSpPr>
          <p:cNvPr name="TextBox 15" id="15"/>
          <p:cNvSpPr txBox="true"/>
          <p:nvPr/>
        </p:nvSpPr>
        <p:spPr>
          <a:xfrm rot="0">
            <a:off x="992238" y="4898079"/>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Wishlist</a:t>
            </a:r>
          </a:p>
        </p:txBody>
      </p:sp>
      <p:sp>
        <p:nvSpPr>
          <p:cNvPr name="TextBox 16" id="16"/>
          <p:cNvSpPr txBox="true"/>
          <p:nvPr/>
        </p:nvSpPr>
        <p:spPr>
          <a:xfrm rot="0">
            <a:off x="992238" y="5330428"/>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Save favorite products with instant Redux-synced toggling.</a:t>
            </a:r>
          </a:p>
        </p:txBody>
      </p:sp>
      <p:sp>
        <p:nvSpPr>
          <p:cNvPr name="Freeform 17" id="17" descr="preencoded.png"/>
          <p:cNvSpPr/>
          <p:nvPr/>
        </p:nvSpPr>
        <p:spPr>
          <a:xfrm flipH="false" flipV="false" rot="0">
            <a:off x="9256509" y="4230738"/>
            <a:ext cx="451837" cy="451837"/>
          </a:xfrm>
          <a:custGeom>
            <a:avLst/>
            <a:gdLst/>
            <a:ahLst/>
            <a:cxnLst/>
            <a:rect r="r" b="b" t="t" l="l"/>
            <a:pathLst>
              <a:path h="451837" w="451837">
                <a:moveTo>
                  <a:pt x="0" y="0"/>
                </a:moveTo>
                <a:lnTo>
                  <a:pt x="451838" y="0"/>
                </a:lnTo>
                <a:lnTo>
                  <a:pt x="451838" y="451838"/>
                </a:lnTo>
                <a:lnTo>
                  <a:pt x="0" y="451838"/>
                </a:lnTo>
                <a:lnTo>
                  <a:pt x="0" y="0"/>
                </a:lnTo>
                <a:close/>
              </a:path>
            </a:pathLst>
          </a:custGeom>
          <a:blipFill>
            <a:blip r:embed="rId9">
              <a:extLst>
                <a:ext uri="{96DAC541-7B7A-43D3-8B79-37D633B846F1}">
                  <asvg:svgBlip xmlns:asvg="http://schemas.microsoft.com/office/drawing/2016/SVG/main" r:embed="rId10"/>
                </a:ext>
              </a:extLst>
            </a:blip>
            <a:stretch>
              <a:fillRect l="-17707" t="0" r="-17709" b="0"/>
            </a:stretch>
          </a:blipFill>
        </p:spPr>
      </p:sp>
      <p:sp>
        <p:nvSpPr>
          <p:cNvPr name="TextBox 18" id="18"/>
          <p:cNvSpPr txBox="true"/>
          <p:nvPr/>
        </p:nvSpPr>
        <p:spPr>
          <a:xfrm rot="0">
            <a:off x="9256509" y="4898079"/>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Razorpay Payment</a:t>
            </a:r>
          </a:p>
        </p:txBody>
      </p:sp>
      <p:sp>
        <p:nvSpPr>
          <p:cNvPr name="TextBox 19" id="19"/>
          <p:cNvSpPr txBox="true"/>
          <p:nvPr/>
        </p:nvSpPr>
        <p:spPr>
          <a:xfrm rot="0">
            <a:off x="9256509" y="5330428"/>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Test-mode payment gateway with success callbacks and order confirmation.</a:t>
            </a:r>
          </a:p>
        </p:txBody>
      </p:sp>
      <p:sp>
        <p:nvSpPr>
          <p:cNvPr name="Freeform 20" id="20" descr="preencoded.png"/>
          <p:cNvSpPr/>
          <p:nvPr/>
        </p:nvSpPr>
        <p:spPr>
          <a:xfrm flipH="false" flipV="false" rot="0">
            <a:off x="992238" y="6053290"/>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11">
              <a:extLst>
                <a:ext uri="{96DAC541-7B7A-43D3-8B79-37D633B846F1}">
                  <asvg:svgBlip xmlns:asvg="http://schemas.microsoft.com/office/drawing/2016/SVG/main" r:embed="rId12"/>
                </a:ext>
              </a:extLst>
            </a:blip>
            <a:stretch>
              <a:fillRect l="-3124" t="0" r="-3126" b="0"/>
            </a:stretch>
          </a:blipFill>
        </p:spPr>
      </p:sp>
      <p:sp>
        <p:nvSpPr>
          <p:cNvPr name="TextBox 21" id="21"/>
          <p:cNvSpPr txBox="true"/>
          <p:nvPr/>
        </p:nvSpPr>
        <p:spPr>
          <a:xfrm rot="0">
            <a:off x="992238" y="6720630"/>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Search &amp; Filter</a:t>
            </a:r>
          </a:p>
        </p:txBody>
      </p:sp>
      <p:sp>
        <p:nvSpPr>
          <p:cNvPr name="TextBox 22" id="22"/>
          <p:cNvSpPr txBox="true"/>
          <p:nvPr/>
        </p:nvSpPr>
        <p:spPr>
          <a:xfrm rot="0">
            <a:off x="992238" y="7152980"/>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Real-time product search with category filtering and sorting.</a:t>
            </a:r>
          </a:p>
        </p:txBody>
      </p:sp>
      <p:sp>
        <p:nvSpPr>
          <p:cNvPr name="Freeform 23" id="23" descr="preencoded.png"/>
          <p:cNvSpPr/>
          <p:nvPr/>
        </p:nvSpPr>
        <p:spPr>
          <a:xfrm flipH="false" flipV="false" rot="0">
            <a:off x="9256509" y="6053290"/>
            <a:ext cx="451837" cy="451837"/>
          </a:xfrm>
          <a:custGeom>
            <a:avLst/>
            <a:gdLst/>
            <a:ahLst/>
            <a:cxnLst/>
            <a:rect r="r" b="b" t="t" l="l"/>
            <a:pathLst>
              <a:path h="451837" w="451837">
                <a:moveTo>
                  <a:pt x="0" y="0"/>
                </a:moveTo>
                <a:lnTo>
                  <a:pt x="451838" y="0"/>
                </a:lnTo>
                <a:lnTo>
                  <a:pt x="451838" y="451837"/>
                </a:lnTo>
                <a:lnTo>
                  <a:pt x="0" y="45183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4" id="24"/>
          <p:cNvSpPr txBox="true"/>
          <p:nvPr/>
        </p:nvSpPr>
        <p:spPr>
          <a:xfrm rot="0">
            <a:off x="9256509" y="6720630"/>
            <a:ext cx="8039252" cy="362541"/>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Admin Dashboard</a:t>
            </a:r>
          </a:p>
        </p:txBody>
      </p:sp>
      <p:sp>
        <p:nvSpPr>
          <p:cNvPr name="TextBox 25" id="25"/>
          <p:cNvSpPr txBox="true"/>
          <p:nvPr/>
        </p:nvSpPr>
        <p:spPr>
          <a:xfrm rot="0">
            <a:off x="9256509" y="7152980"/>
            <a:ext cx="8039252" cy="362845"/>
          </a:xfrm>
          <a:prstGeom prst="rect">
            <a:avLst/>
          </a:prstGeom>
        </p:spPr>
        <p:txBody>
          <a:bodyPr anchor="t" rtlCol="false" tIns="0" lIns="0" bIns="0" rIns="0">
            <a:spAutoFit/>
          </a:bodyPr>
          <a:lstStyle/>
          <a:p>
            <a:pPr algn="l">
              <a:lnSpc>
                <a:spcPts val="2448"/>
              </a:lnSpc>
            </a:pPr>
            <a:r>
              <a:rPr lang="en-US" sz="1700">
                <a:solidFill>
                  <a:srgbClr val="49495A"/>
                </a:solidFill>
                <a:latin typeface="Open Sans"/>
                <a:ea typeface="Open Sans"/>
                <a:cs typeface="Open Sans"/>
                <a:sym typeface="Open Sans"/>
              </a:rPr>
              <a:t>Product, order, and user management with a dedicated admin interface.</a:t>
            </a:r>
          </a:p>
        </p:txBody>
      </p:sp>
      <p:grpSp>
        <p:nvGrpSpPr>
          <p:cNvPr name="Group 26" id="26"/>
          <p:cNvGrpSpPr/>
          <p:nvPr/>
        </p:nvGrpSpPr>
        <p:grpSpPr>
          <a:xfrm rot="0">
            <a:off x="992238" y="7718222"/>
            <a:ext cx="16303523" cy="1753638"/>
            <a:chOff x="0" y="0"/>
            <a:chExt cx="21738031" cy="2338184"/>
          </a:xfrm>
        </p:grpSpPr>
        <p:sp>
          <p:nvSpPr>
            <p:cNvPr name="Freeform 27" id="27"/>
            <p:cNvSpPr/>
            <p:nvPr/>
          </p:nvSpPr>
          <p:spPr>
            <a:xfrm flipH="false" flipV="false" rot="0">
              <a:off x="0" y="0"/>
              <a:ext cx="21738082" cy="2338197"/>
            </a:xfrm>
            <a:custGeom>
              <a:avLst/>
              <a:gdLst/>
              <a:ahLst/>
              <a:cxnLst/>
              <a:rect r="r" b="b" t="t" l="l"/>
              <a:pathLst>
                <a:path h="2338197" w="21738082">
                  <a:moveTo>
                    <a:pt x="0" y="45212"/>
                  </a:moveTo>
                  <a:cubicBezTo>
                    <a:pt x="0" y="20193"/>
                    <a:pt x="20193" y="0"/>
                    <a:pt x="45212" y="0"/>
                  </a:cubicBezTo>
                  <a:lnTo>
                    <a:pt x="21692870" y="0"/>
                  </a:lnTo>
                  <a:cubicBezTo>
                    <a:pt x="21717888" y="0"/>
                    <a:pt x="21738082" y="20193"/>
                    <a:pt x="21738082" y="45212"/>
                  </a:cubicBezTo>
                  <a:lnTo>
                    <a:pt x="21738082" y="2292985"/>
                  </a:lnTo>
                  <a:cubicBezTo>
                    <a:pt x="21738082" y="2318004"/>
                    <a:pt x="21717888" y="2338197"/>
                    <a:pt x="21692870" y="2338197"/>
                  </a:cubicBezTo>
                  <a:lnTo>
                    <a:pt x="45212" y="2338197"/>
                  </a:lnTo>
                  <a:cubicBezTo>
                    <a:pt x="20193" y="2338197"/>
                    <a:pt x="0" y="2318004"/>
                    <a:pt x="0" y="2292985"/>
                  </a:cubicBezTo>
                  <a:close/>
                </a:path>
              </a:pathLst>
            </a:custGeom>
            <a:solidFill>
              <a:srgbClr val="D7D6F5"/>
            </a:solidFill>
          </p:spPr>
        </p:sp>
      </p:grpSp>
      <p:grpSp>
        <p:nvGrpSpPr>
          <p:cNvPr name="Group 28" id="28"/>
          <p:cNvGrpSpPr/>
          <p:nvPr/>
        </p:nvGrpSpPr>
        <p:grpSpPr>
          <a:xfrm rot="0">
            <a:off x="1218162" y="8021841"/>
            <a:ext cx="282331" cy="225923"/>
            <a:chOff x="0" y="0"/>
            <a:chExt cx="376441" cy="301231"/>
          </a:xfrm>
        </p:grpSpPr>
        <p:sp>
          <p:nvSpPr>
            <p:cNvPr name="Freeform 29" id="29" descr="preencoded.png"/>
            <p:cNvSpPr/>
            <p:nvPr/>
          </p:nvSpPr>
          <p:spPr>
            <a:xfrm flipH="false" flipV="false" rot="0">
              <a:off x="0" y="0"/>
              <a:ext cx="376428" cy="301244"/>
            </a:xfrm>
            <a:custGeom>
              <a:avLst/>
              <a:gdLst/>
              <a:ahLst/>
              <a:cxnLst/>
              <a:rect r="r" b="b" t="t" l="l"/>
              <a:pathLst>
                <a:path h="301244" w="376428">
                  <a:moveTo>
                    <a:pt x="0" y="0"/>
                  </a:moveTo>
                  <a:lnTo>
                    <a:pt x="376428" y="0"/>
                  </a:lnTo>
                  <a:lnTo>
                    <a:pt x="376428" y="301244"/>
                  </a:lnTo>
                  <a:lnTo>
                    <a:pt x="0" y="301244"/>
                  </a:lnTo>
                  <a:lnTo>
                    <a:pt x="0" y="0"/>
                  </a:lnTo>
                  <a:close/>
                </a:path>
              </a:pathLst>
            </a:custGeom>
            <a:blipFill>
              <a:blip r:embed="rId15"/>
              <a:stretch>
                <a:fillRect l="-13" t="0" r="-16" b="4"/>
              </a:stretch>
            </a:blipFill>
          </p:spPr>
        </p:sp>
      </p:grpSp>
      <p:sp>
        <p:nvSpPr>
          <p:cNvPr name="TextBox 30" id="30"/>
          <p:cNvSpPr txBox="true"/>
          <p:nvPr/>
        </p:nvSpPr>
        <p:spPr>
          <a:xfrm rot="0">
            <a:off x="1726406" y="7916466"/>
            <a:ext cx="15343432" cy="1337072"/>
          </a:xfrm>
          <a:prstGeom prst="rect">
            <a:avLst/>
          </a:prstGeom>
        </p:spPr>
        <p:txBody>
          <a:bodyPr anchor="t" rtlCol="false" tIns="0" lIns="0" bIns="0" rIns="0">
            <a:spAutoFit/>
          </a:bodyPr>
          <a:lstStyle/>
          <a:p>
            <a:pPr algn="l">
              <a:lnSpc>
                <a:spcPts val="2448"/>
              </a:lnSpc>
            </a:pPr>
            <a:r>
              <a:rPr lang="en-US" sz="1700" b="true">
                <a:solidFill>
                  <a:srgbClr val="000000"/>
                </a:solidFill>
                <a:latin typeface="Open Sans Bold"/>
                <a:ea typeface="Open Sans Bold"/>
                <a:cs typeface="Open Sans Bold"/>
                <a:sym typeface="Open Sans Bold"/>
              </a:rPr>
              <a:t>Speaker Notes:</a:t>
            </a:r>
            <a:r>
              <a:rPr lang="en-US" sz="1700">
                <a:solidFill>
                  <a:srgbClr val="000000"/>
                </a:solidFill>
                <a:latin typeface="Open Sans"/>
                <a:ea typeface="Open Sans"/>
                <a:cs typeface="Open Sans"/>
                <a:sym typeface="Open Sans"/>
              </a:rPr>
              <a:t> ElectroMart covers the full e-commerce feature set. The user module handles authentication with protected routes. The cart persists across sessions and syncs with Redux for real-time updates. Wishlist lets users save products with instant feedback. Razorpay integration handles the full payment lifecycle. Search and filter enable product discovery, and the admin dashboard provides backend-style management for products, orders, and users — all within a responsive UI that works across devices.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70182"/>
            <a:ext cx="16303523" cy="452437"/>
          </a:xfrm>
          <a:prstGeom prst="rect">
            <a:avLst/>
          </a:prstGeom>
        </p:spPr>
        <p:txBody>
          <a:bodyPr anchor="t" rtlCol="false" tIns="0" lIns="0" bIns="0" rIns="0">
            <a:spAutoFit/>
          </a:bodyPr>
          <a:lstStyle/>
          <a:p>
            <a:pPr algn="l">
              <a:lnSpc>
                <a:spcPts val="3369"/>
              </a:lnSpc>
            </a:pPr>
            <a:r>
              <a:rPr lang="en-US" sz="2700">
                <a:solidFill>
                  <a:srgbClr val="403CCF"/>
                </a:solidFill>
                <a:latin typeface="Libre Baskerville"/>
                <a:ea typeface="Libre Baskerville"/>
                <a:cs typeface="Libre Baskerville"/>
                <a:sym typeface="Libre Baskerville"/>
              </a:rPr>
              <a:t>Technology Stack</a:t>
            </a:r>
          </a:p>
        </p:txBody>
      </p:sp>
      <p:grpSp>
        <p:nvGrpSpPr>
          <p:cNvPr name="Group 7" id="7"/>
          <p:cNvGrpSpPr/>
          <p:nvPr/>
        </p:nvGrpSpPr>
        <p:grpSpPr>
          <a:xfrm rot="0">
            <a:off x="992238" y="1408509"/>
            <a:ext cx="7978826" cy="7978826"/>
            <a:chOff x="0" y="0"/>
            <a:chExt cx="10638434" cy="10638434"/>
          </a:xfrm>
        </p:grpSpPr>
        <p:sp>
          <p:nvSpPr>
            <p:cNvPr name="Freeform 8" id="8" descr="preencoded.png"/>
            <p:cNvSpPr/>
            <p:nvPr/>
          </p:nvSpPr>
          <p:spPr>
            <a:xfrm flipH="false" flipV="false" rot="0">
              <a:off x="0" y="0"/>
              <a:ext cx="10638409" cy="10638409"/>
            </a:xfrm>
            <a:custGeom>
              <a:avLst/>
              <a:gdLst/>
              <a:ahLst/>
              <a:cxnLst/>
              <a:rect r="r" b="b" t="t" l="l"/>
              <a:pathLst>
                <a:path h="10638409" w="10638409">
                  <a:moveTo>
                    <a:pt x="0" y="0"/>
                  </a:moveTo>
                  <a:lnTo>
                    <a:pt x="10638409" y="0"/>
                  </a:lnTo>
                  <a:lnTo>
                    <a:pt x="10638409" y="10638409"/>
                  </a:lnTo>
                  <a:lnTo>
                    <a:pt x="0" y="10638409"/>
                  </a:lnTo>
                  <a:lnTo>
                    <a:pt x="0" y="0"/>
                  </a:lnTo>
                  <a:close/>
                </a:path>
              </a:pathLst>
            </a:custGeom>
            <a:blipFill>
              <a:blip r:embed="rId3"/>
              <a:stretch>
                <a:fillRect l="0" t="0" r="0" b="0"/>
              </a:stretch>
            </a:blipFill>
          </p:spPr>
        </p:sp>
      </p:grpSp>
      <p:sp>
        <p:nvSpPr>
          <p:cNvPr name="TextBox 9" id="9"/>
          <p:cNvSpPr txBox="true"/>
          <p:nvPr/>
        </p:nvSpPr>
        <p:spPr>
          <a:xfrm rot="0">
            <a:off x="9326461" y="4531966"/>
            <a:ext cx="7978826" cy="230981"/>
          </a:xfrm>
          <a:prstGeom prst="rect">
            <a:avLst/>
          </a:prstGeom>
        </p:spPr>
        <p:txBody>
          <a:bodyPr anchor="t" rtlCol="false" tIns="0" lIns="0" bIns="0" rIns="0">
            <a:spAutoFit/>
          </a:bodyPr>
          <a:lstStyle/>
          <a:p>
            <a:pPr algn="l">
              <a:lnSpc>
                <a:spcPts val="1622"/>
              </a:lnSpc>
            </a:pPr>
            <a:r>
              <a:rPr lang="en-US" sz="1300">
                <a:solidFill>
                  <a:srgbClr val="403CCF"/>
                </a:solidFill>
                <a:latin typeface="Libre Baskerville"/>
                <a:ea typeface="Libre Baskerville"/>
                <a:cs typeface="Libre Baskerville"/>
                <a:sym typeface="Libre Baskerville"/>
              </a:rPr>
              <a:t>Why These Choices?</a:t>
            </a:r>
          </a:p>
        </p:txBody>
      </p:sp>
      <p:sp>
        <p:nvSpPr>
          <p:cNvPr name="TextBox 10" id="10"/>
          <p:cNvSpPr txBox="true"/>
          <p:nvPr/>
        </p:nvSpPr>
        <p:spPr>
          <a:xfrm rot="0">
            <a:off x="9326461" y="4833785"/>
            <a:ext cx="7978826" cy="949376"/>
          </a:xfrm>
          <a:prstGeom prst="rect">
            <a:avLst/>
          </a:prstGeom>
        </p:spPr>
        <p:txBody>
          <a:bodyPr anchor="t" rtlCol="false" tIns="0" lIns="0" bIns="0" rIns="0">
            <a:spAutoFit/>
          </a:bodyPr>
          <a:lstStyle/>
          <a:p>
            <a:pPr algn="l" marL="265430" indent="-132715" lvl="1">
              <a:lnSpc>
                <a:spcPts val="1320"/>
              </a:lnSpc>
              <a:buFont typeface="Arial"/>
              <a:buChar char="•"/>
            </a:pPr>
            <a:r>
              <a:rPr lang="en-US" b="true" sz="1100">
                <a:solidFill>
                  <a:srgbClr val="49495A"/>
                </a:solidFill>
                <a:latin typeface="Open Sans Bold"/>
                <a:ea typeface="Open Sans Bold"/>
                <a:cs typeface="Open Sans Bold"/>
                <a:sym typeface="Open Sans Bold"/>
              </a:rPr>
              <a:t>React + Vite:</a:t>
            </a:r>
            <a:r>
              <a:rPr lang="en-US" sz="1100">
                <a:solidFill>
                  <a:srgbClr val="49495A"/>
                </a:solidFill>
                <a:latin typeface="Open Sans"/>
                <a:ea typeface="Open Sans"/>
                <a:cs typeface="Open Sans"/>
                <a:sym typeface="Open Sans"/>
              </a:rPr>
              <a:t> Fast HMR, modern build tooling, and component-driven architecture</a:t>
            </a:r>
          </a:p>
          <a:p>
            <a:pPr algn="l" marL="265430" indent="-132715" lvl="1">
              <a:lnSpc>
                <a:spcPts val="1320"/>
              </a:lnSpc>
              <a:buFont typeface="Arial"/>
              <a:buChar char="•"/>
            </a:pPr>
            <a:r>
              <a:rPr lang="en-US" b="true" sz="1100">
                <a:solidFill>
                  <a:srgbClr val="49495A"/>
                </a:solidFill>
                <a:latin typeface="Open Sans Bold"/>
                <a:ea typeface="Open Sans Bold"/>
                <a:cs typeface="Open Sans Bold"/>
                <a:sym typeface="Open Sans Bold"/>
              </a:rPr>
              <a:t>Redux Toolkit:</a:t>
            </a:r>
            <a:r>
              <a:rPr lang="en-US" sz="1100">
                <a:solidFill>
                  <a:srgbClr val="49495A"/>
                </a:solidFill>
                <a:latin typeface="Open Sans"/>
                <a:ea typeface="Open Sans"/>
                <a:cs typeface="Open Sans"/>
                <a:sym typeface="Open Sans"/>
              </a:rPr>
              <a:t> Predictable global state with minimal boilerplate</a:t>
            </a:r>
          </a:p>
          <a:p>
            <a:pPr algn="l" marL="265430" indent="-132715" lvl="1">
              <a:lnSpc>
                <a:spcPts val="1320"/>
              </a:lnSpc>
              <a:buFont typeface="Arial"/>
              <a:buChar char="•"/>
            </a:pPr>
            <a:r>
              <a:rPr lang="en-US" b="true" sz="1100">
                <a:solidFill>
                  <a:srgbClr val="49495A"/>
                </a:solidFill>
                <a:latin typeface="Open Sans Bold"/>
                <a:ea typeface="Open Sans Bold"/>
                <a:cs typeface="Open Sans Bold"/>
                <a:sym typeface="Open Sans Bold"/>
              </a:rPr>
              <a:t>Axios:</a:t>
            </a:r>
            <a:r>
              <a:rPr lang="en-US" sz="1100">
                <a:solidFill>
                  <a:srgbClr val="49495A"/>
                </a:solidFill>
                <a:latin typeface="Open Sans"/>
                <a:ea typeface="Open Sans"/>
                <a:cs typeface="Open Sans"/>
                <a:sym typeface="Open Sans"/>
              </a:rPr>
              <a:t> Clean REST API communication with interceptors</a:t>
            </a:r>
          </a:p>
          <a:p>
            <a:pPr algn="l" marL="265430" indent="-132715" lvl="1">
              <a:lnSpc>
                <a:spcPts val="1320"/>
              </a:lnSpc>
              <a:buFont typeface="Arial"/>
              <a:buChar char="•"/>
            </a:pPr>
            <a:r>
              <a:rPr lang="en-US" b="true" sz="1100">
                <a:solidFill>
                  <a:srgbClr val="49495A"/>
                </a:solidFill>
                <a:latin typeface="Open Sans Bold"/>
                <a:ea typeface="Open Sans Bold"/>
                <a:cs typeface="Open Sans Bold"/>
                <a:sym typeface="Open Sans Bold"/>
              </a:rPr>
              <a:t>Razorpay:</a:t>
            </a:r>
            <a:r>
              <a:rPr lang="en-US" sz="1100">
                <a:solidFill>
                  <a:srgbClr val="49495A"/>
                </a:solidFill>
                <a:latin typeface="Open Sans"/>
                <a:ea typeface="Open Sans"/>
                <a:cs typeface="Open Sans"/>
                <a:sym typeface="Open Sans"/>
              </a:rPr>
              <a:t> Industry-standard payment gateway for India</a:t>
            </a:r>
          </a:p>
          <a:p>
            <a:pPr algn="l" marL="265430" indent="-132715" lvl="1">
              <a:lnSpc>
                <a:spcPts val="1320"/>
              </a:lnSpc>
              <a:buFont typeface="Arial"/>
              <a:buChar char="•"/>
            </a:pPr>
            <a:r>
              <a:rPr lang="en-US" b="true" sz="1100">
                <a:solidFill>
                  <a:srgbClr val="49495A"/>
                </a:solidFill>
                <a:latin typeface="Open Sans Bold"/>
                <a:ea typeface="Open Sans Bold"/>
                <a:cs typeface="Open Sans Bold"/>
                <a:sym typeface="Open Sans Bold"/>
              </a:rPr>
              <a:t>Vercel:</a:t>
            </a:r>
            <a:r>
              <a:rPr lang="en-US" sz="1100">
                <a:solidFill>
                  <a:srgbClr val="49495A"/>
                </a:solidFill>
                <a:latin typeface="Open Sans"/>
                <a:ea typeface="Open Sans"/>
                <a:cs typeface="Open Sans"/>
                <a:sym typeface="Open Sans"/>
              </a:rPr>
              <a:t> Zero-config deployment with edge networking</a:t>
            </a:r>
          </a:p>
        </p:txBody>
      </p:sp>
      <p:grpSp>
        <p:nvGrpSpPr>
          <p:cNvPr name="Group 11" id="11"/>
          <p:cNvGrpSpPr/>
          <p:nvPr/>
        </p:nvGrpSpPr>
        <p:grpSpPr>
          <a:xfrm rot="0">
            <a:off x="9326461" y="5862790"/>
            <a:ext cx="7978826" cy="382638"/>
            <a:chOff x="0" y="0"/>
            <a:chExt cx="10638434" cy="510184"/>
          </a:xfrm>
        </p:grpSpPr>
        <p:sp>
          <p:nvSpPr>
            <p:cNvPr name="Freeform 12" id="12"/>
            <p:cNvSpPr/>
            <p:nvPr/>
          </p:nvSpPr>
          <p:spPr>
            <a:xfrm flipH="false" flipV="false" rot="0">
              <a:off x="0" y="0"/>
              <a:ext cx="10638409" cy="510159"/>
            </a:xfrm>
            <a:custGeom>
              <a:avLst/>
              <a:gdLst/>
              <a:ahLst/>
              <a:cxnLst/>
              <a:rect r="r" b="b" t="t" l="l"/>
              <a:pathLst>
                <a:path h="510159" w="10638409">
                  <a:moveTo>
                    <a:pt x="0" y="28321"/>
                  </a:moveTo>
                  <a:cubicBezTo>
                    <a:pt x="0" y="12700"/>
                    <a:pt x="12700" y="0"/>
                    <a:pt x="28321" y="0"/>
                  </a:cubicBezTo>
                  <a:lnTo>
                    <a:pt x="10610088" y="0"/>
                  </a:lnTo>
                  <a:cubicBezTo>
                    <a:pt x="10625709" y="0"/>
                    <a:pt x="10638409" y="12700"/>
                    <a:pt x="10638409" y="28321"/>
                  </a:cubicBezTo>
                  <a:lnTo>
                    <a:pt x="10638409" y="481838"/>
                  </a:lnTo>
                  <a:cubicBezTo>
                    <a:pt x="10638409" y="497459"/>
                    <a:pt x="10625709" y="510159"/>
                    <a:pt x="10610088" y="510159"/>
                  </a:cubicBezTo>
                  <a:lnTo>
                    <a:pt x="28321" y="510159"/>
                  </a:lnTo>
                  <a:cubicBezTo>
                    <a:pt x="12700" y="510159"/>
                    <a:pt x="0" y="497459"/>
                    <a:pt x="0" y="481838"/>
                  </a:cubicBezTo>
                  <a:close/>
                </a:path>
              </a:pathLst>
            </a:custGeom>
            <a:solidFill>
              <a:srgbClr val="D7D6F5"/>
            </a:solidFill>
          </p:spPr>
        </p:sp>
      </p:grpSp>
      <p:grpSp>
        <p:nvGrpSpPr>
          <p:cNvPr name="Group 13" id="13"/>
          <p:cNvGrpSpPr/>
          <p:nvPr/>
        </p:nvGrpSpPr>
        <p:grpSpPr>
          <a:xfrm rot="0">
            <a:off x="9468145" y="6049270"/>
            <a:ext cx="177108" cy="141684"/>
            <a:chOff x="0" y="0"/>
            <a:chExt cx="236144" cy="188912"/>
          </a:xfrm>
        </p:grpSpPr>
        <p:sp>
          <p:nvSpPr>
            <p:cNvPr name="Freeform 14" id="14" descr="preencoded.png"/>
            <p:cNvSpPr/>
            <p:nvPr/>
          </p:nvSpPr>
          <p:spPr>
            <a:xfrm flipH="false" flipV="false" rot="0">
              <a:off x="0" y="0"/>
              <a:ext cx="236093" cy="188849"/>
            </a:xfrm>
            <a:custGeom>
              <a:avLst/>
              <a:gdLst/>
              <a:ahLst/>
              <a:cxnLst/>
              <a:rect r="r" b="b" t="t" l="l"/>
              <a:pathLst>
                <a:path h="188849" w="236093">
                  <a:moveTo>
                    <a:pt x="0" y="0"/>
                  </a:moveTo>
                  <a:lnTo>
                    <a:pt x="236093" y="0"/>
                  </a:lnTo>
                  <a:lnTo>
                    <a:pt x="236093" y="188849"/>
                  </a:lnTo>
                  <a:lnTo>
                    <a:pt x="0" y="188849"/>
                  </a:lnTo>
                  <a:lnTo>
                    <a:pt x="0" y="0"/>
                  </a:lnTo>
                  <a:close/>
                </a:path>
              </a:pathLst>
            </a:custGeom>
            <a:blipFill>
              <a:blip r:embed="rId4"/>
              <a:stretch>
                <a:fillRect l="-667" t="0" r="-688" b="-33"/>
              </a:stretch>
            </a:blipFill>
          </p:spPr>
        </p:sp>
      </p:grpSp>
      <p:sp>
        <p:nvSpPr>
          <p:cNvPr name="TextBox 15" id="15"/>
          <p:cNvSpPr txBox="true"/>
          <p:nvPr/>
        </p:nvSpPr>
        <p:spPr>
          <a:xfrm rot="0">
            <a:off x="9786938" y="5961907"/>
            <a:ext cx="8291065" cy="170107"/>
          </a:xfrm>
          <a:prstGeom prst="rect">
            <a:avLst/>
          </a:prstGeom>
        </p:spPr>
        <p:txBody>
          <a:bodyPr anchor="t" rtlCol="false" tIns="0" lIns="0" bIns="0" rIns="0">
            <a:spAutoFit/>
          </a:bodyPr>
          <a:lstStyle/>
          <a:p>
            <a:pPr algn="l">
              <a:lnSpc>
                <a:spcPts val="1320"/>
              </a:lnSpc>
            </a:pPr>
            <a:r>
              <a:rPr lang="en-US" sz="1100">
                <a:solidFill>
                  <a:srgbClr val="000000"/>
                </a:solidFill>
                <a:latin typeface="Open Sans"/>
                <a:ea typeface="Open Sans"/>
                <a:cs typeface="Open Sans"/>
                <a:sym typeface="Open Sans"/>
              </a:rPr>
              <a:t>Future backend: Flask REST API + MySQL + JWT authentication for a fully production-grade stack.</a:t>
            </a:r>
          </a:p>
        </p:txBody>
      </p:sp>
      <p:grpSp>
        <p:nvGrpSpPr>
          <p:cNvPr name="Group 16" id="16"/>
          <p:cNvGrpSpPr/>
          <p:nvPr/>
        </p:nvGrpSpPr>
        <p:grpSpPr>
          <a:xfrm rot="0">
            <a:off x="992238" y="9546584"/>
            <a:ext cx="16303523" cy="715718"/>
            <a:chOff x="0" y="0"/>
            <a:chExt cx="21738031" cy="954291"/>
          </a:xfrm>
        </p:grpSpPr>
        <p:sp>
          <p:nvSpPr>
            <p:cNvPr name="Freeform 17" id="17"/>
            <p:cNvSpPr/>
            <p:nvPr/>
          </p:nvSpPr>
          <p:spPr>
            <a:xfrm flipH="false" flipV="false" rot="0">
              <a:off x="0" y="0"/>
              <a:ext cx="21737955" cy="954278"/>
            </a:xfrm>
            <a:custGeom>
              <a:avLst/>
              <a:gdLst/>
              <a:ahLst/>
              <a:cxnLst/>
              <a:rect r="r" b="b" t="t" l="l"/>
              <a:pathLst>
                <a:path h="954278" w="21737955">
                  <a:moveTo>
                    <a:pt x="0" y="28321"/>
                  </a:moveTo>
                  <a:cubicBezTo>
                    <a:pt x="0" y="12700"/>
                    <a:pt x="12700" y="0"/>
                    <a:pt x="28321" y="0"/>
                  </a:cubicBezTo>
                  <a:lnTo>
                    <a:pt x="21709635" y="0"/>
                  </a:lnTo>
                  <a:cubicBezTo>
                    <a:pt x="21725255" y="0"/>
                    <a:pt x="21737955" y="12700"/>
                    <a:pt x="21737955" y="28321"/>
                  </a:cubicBezTo>
                  <a:lnTo>
                    <a:pt x="21737955" y="925957"/>
                  </a:lnTo>
                  <a:cubicBezTo>
                    <a:pt x="21737955" y="941578"/>
                    <a:pt x="21725255" y="954278"/>
                    <a:pt x="21709635" y="954278"/>
                  </a:cubicBezTo>
                  <a:lnTo>
                    <a:pt x="28321" y="954278"/>
                  </a:lnTo>
                  <a:cubicBezTo>
                    <a:pt x="12700" y="954278"/>
                    <a:pt x="0" y="941578"/>
                    <a:pt x="0" y="925957"/>
                  </a:cubicBezTo>
                  <a:close/>
                </a:path>
              </a:pathLst>
            </a:custGeom>
            <a:solidFill>
              <a:srgbClr val="D7D6F5"/>
            </a:solidFill>
          </p:spPr>
        </p:sp>
      </p:grpSp>
      <p:grpSp>
        <p:nvGrpSpPr>
          <p:cNvPr name="Group 18" id="18"/>
          <p:cNvGrpSpPr/>
          <p:nvPr/>
        </p:nvGrpSpPr>
        <p:grpSpPr>
          <a:xfrm rot="0">
            <a:off x="1133923" y="9723682"/>
            <a:ext cx="177108" cy="141684"/>
            <a:chOff x="0" y="0"/>
            <a:chExt cx="236144" cy="188912"/>
          </a:xfrm>
        </p:grpSpPr>
        <p:sp>
          <p:nvSpPr>
            <p:cNvPr name="Freeform 19" id="19" descr="preencoded.png"/>
            <p:cNvSpPr/>
            <p:nvPr/>
          </p:nvSpPr>
          <p:spPr>
            <a:xfrm flipH="false" flipV="false" rot="0">
              <a:off x="0" y="0"/>
              <a:ext cx="236093" cy="188849"/>
            </a:xfrm>
            <a:custGeom>
              <a:avLst/>
              <a:gdLst/>
              <a:ahLst/>
              <a:cxnLst/>
              <a:rect r="r" b="b" t="t" l="l"/>
              <a:pathLst>
                <a:path h="188849" w="236093">
                  <a:moveTo>
                    <a:pt x="0" y="0"/>
                  </a:moveTo>
                  <a:lnTo>
                    <a:pt x="236093" y="0"/>
                  </a:lnTo>
                  <a:lnTo>
                    <a:pt x="236093" y="188849"/>
                  </a:lnTo>
                  <a:lnTo>
                    <a:pt x="0" y="188849"/>
                  </a:lnTo>
                  <a:lnTo>
                    <a:pt x="0" y="0"/>
                  </a:lnTo>
                  <a:close/>
                </a:path>
              </a:pathLst>
            </a:custGeom>
            <a:blipFill>
              <a:blip r:embed="rId4"/>
              <a:stretch>
                <a:fillRect l="-667" t="0" r="-688" b="-33"/>
              </a:stretch>
            </a:blipFill>
          </p:spPr>
        </p:sp>
      </p:grpSp>
      <p:sp>
        <p:nvSpPr>
          <p:cNvPr name="TextBox 20" id="20"/>
          <p:cNvSpPr txBox="true"/>
          <p:nvPr/>
        </p:nvSpPr>
        <p:spPr>
          <a:xfrm rot="0">
            <a:off x="1428831" y="9652845"/>
            <a:ext cx="15701372" cy="510330"/>
          </a:xfrm>
          <a:prstGeom prst="rect">
            <a:avLst/>
          </a:prstGeom>
        </p:spPr>
        <p:txBody>
          <a:bodyPr anchor="t" rtlCol="false" tIns="0" lIns="0" bIns="0" rIns="0">
            <a:spAutoFit/>
          </a:bodyPr>
          <a:lstStyle/>
          <a:p>
            <a:pPr algn="l">
              <a:lnSpc>
                <a:spcPts val="1320"/>
              </a:lnSpc>
            </a:pPr>
            <a:r>
              <a:rPr lang="en-US" sz="1100" b="true">
                <a:solidFill>
                  <a:srgbClr val="000000"/>
                </a:solidFill>
                <a:latin typeface="Open Sans Bold"/>
                <a:ea typeface="Open Sans Bold"/>
                <a:cs typeface="Open Sans Bold"/>
                <a:sym typeface="Open Sans Bold"/>
              </a:rPr>
              <a:t>Speaker Notes:</a:t>
            </a:r>
            <a:r>
              <a:rPr lang="en-US" sz="1100">
                <a:solidFill>
                  <a:srgbClr val="000000"/>
                </a:solidFill>
                <a:latin typeface="Open Sans"/>
                <a:ea typeface="Open Sans"/>
                <a:cs typeface="Open Sans"/>
                <a:sym typeface="Open Sans"/>
              </a:rPr>
              <a:t> React and Vite provide a fast development experience with hot module replacement. Redux Toolkit simplifies global state management — I chose it over Context API because the app has multiple interconnected features (cart, wishlist, auth, products) that benefit from a centralized store. Axios handles API calls with clean syntax. Razorpay is the leading payment gateway in India. Vercel offers zero-config deployment. The future backend will replace JSON Server with Flask, MySQL, and JWT for a fully production-ready system.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sp>
        <p:nvSpPr>
          <p:cNvPr name="TextBox 8" id="8"/>
          <p:cNvSpPr txBox="true"/>
          <p:nvPr/>
        </p:nvSpPr>
        <p:spPr>
          <a:xfrm rot="0">
            <a:off x="992238" y="770182"/>
            <a:ext cx="16303523" cy="452437"/>
          </a:xfrm>
          <a:prstGeom prst="rect">
            <a:avLst/>
          </a:prstGeom>
        </p:spPr>
        <p:txBody>
          <a:bodyPr anchor="t" rtlCol="false" tIns="0" lIns="0" bIns="0" rIns="0">
            <a:spAutoFit/>
          </a:bodyPr>
          <a:lstStyle/>
          <a:p>
            <a:pPr algn="l">
              <a:lnSpc>
                <a:spcPts val="3369"/>
              </a:lnSpc>
            </a:pPr>
            <a:r>
              <a:rPr lang="en-US" sz="2700">
                <a:solidFill>
                  <a:srgbClr val="403CCF"/>
                </a:solidFill>
                <a:latin typeface="Libre Baskerville"/>
                <a:ea typeface="Libre Baskerville"/>
                <a:cs typeface="Libre Baskerville"/>
                <a:sym typeface="Libre Baskerville"/>
              </a:rPr>
              <a:t>Application Architecture</a:t>
            </a:r>
          </a:p>
        </p:txBody>
      </p:sp>
      <p:grpSp>
        <p:nvGrpSpPr>
          <p:cNvPr name="Group 9" id="9"/>
          <p:cNvGrpSpPr/>
          <p:nvPr/>
        </p:nvGrpSpPr>
        <p:grpSpPr>
          <a:xfrm rot="0">
            <a:off x="992238" y="1364304"/>
            <a:ext cx="16303523" cy="7461199"/>
            <a:chOff x="0" y="0"/>
            <a:chExt cx="21738031" cy="9948266"/>
          </a:xfrm>
        </p:grpSpPr>
        <p:sp>
          <p:nvSpPr>
            <p:cNvPr name="Freeform 10" id="10" descr="preencoded.png"/>
            <p:cNvSpPr/>
            <p:nvPr/>
          </p:nvSpPr>
          <p:spPr>
            <a:xfrm flipH="false" flipV="false" rot="0">
              <a:off x="0" y="0"/>
              <a:ext cx="21738082" cy="9948291"/>
            </a:xfrm>
            <a:custGeom>
              <a:avLst/>
              <a:gdLst/>
              <a:ahLst/>
              <a:cxnLst/>
              <a:rect r="r" b="b" t="t" l="l"/>
              <a:pathLst>
                <a:path h="9948291" w="21738082">
                  <a:moveTo>
                    <a:pt x="0" y="0"/>
                  </a:moveTo>
                  <a:lnTo>
                    <a:pt x="21738082" y="0"/>
                  </a:lnTo>
                  <a:lnTo>
                    <a:pt x="21738082" y="9948291"/>
                  </a:lnTo>
                  <a:lnTo>
                    <a:pt x="0" y="9948291"/>
                  </a:lnTo>
                  <a:lnTo>
                    <a:pt x="0" y="0"/>
                  </a:lnTo>
                  <a:close/>
                </a:path>
              </a:pathLst>
            </a:custGeom>
            <a:blipFill>
              <a:blip r:embed="rId5"/>
              <a:stretch>
                <a:fillRect l="0" t="-32" r="0" b="-32"/>
              </a:stretch>
            </a:blipFill>
          </p:spPr>
        </p:sp>
      </p:grpSp>
      <p:sp>
        <p:nvSpPr>
          <p:cNvPr name="TextBox 11" id="11"/>
          <p:cNvSpPr txBox="true"/>
          <p:nvPr/>
        </p:nvSpPr>
        <p:spPr>
          <a:xfrm rot="0">
            <a:off x="12934617" y="2390604"/>
            <a:ext cx="3606489" cy="460334"/>
          </a:xfrm>
          <a:prstGeom prst="rect">
            <a:avLst/>
          </a:prstGeom>
        </p:spPr>
        <p:txBody>
          <a:bodyPr anchor="t" rtlCol="false" tIns="0" lIns="0" bIns="0" rIns="0">
            <a:spAutoFit/>
          </a:bodyPr>
          <a:lstStyle/>
          <a:p>
            <a:pPr algn="l">
              <a:lnSpc>
                <a:spcPts val="3494"/>
              </a:lnSpc>
            </a:pPr>
            <a:r>
              <a:rPr lang="en-US" sz="2799">
                <a:solidFill>
                  <a:srgbClr val="49495A"/>
                </a:solidFill>
                <a:latin typeface="Libre Baskerville"/>
                <a:ea typeface="Libre Baskerville"/>
                <a:cs typeface="Libre Baskerville"/>
                <a:sym typeface="Libre Baskerville"/>
              </a:rPr>
              <a:t>Redux Store</a:t>
            </a:r>
          </a:p>
        </p:txBody>
      </p:sp>
      <p:sp>
        <p:nvSpPr>
          <p:cNvPr name="TextBox 12" id="12"/>
          <p:cNvSpPr txBox="true"/>
          <p:nvPr/>
        </p:nvSpPr>
        <p:spPr>
          <a:xfrm rot="0">
            <a:off x="12934617" y="3036322"/>
            <a:ext cx="3975154" cy="483822"/>
          </a:xfrm>
          <a:prstGeom prst="rect">
            <a:avLst/>
          </a:prstGeom>
        </p:spPr>
        <p:txBody>
          <a:bodyPr anchor="t" rtlCol="false" tIns="0" lIns="0" bIns="0" rIns="0">
            <a:spAutoFit/>
          </a:bodyPr>
          <a:lstStyle/>
          <a:p>
            <a:pPr algn="l">
              <a:lnSpc>
                <a:spcPts val="2059"/>
              </a:lnSpc>
            </a:pPr>
            <a:r>
              <a:rPr lang="en-US" sz="2200">
                <a:solidFill>
                  <a:srgbClr val="49495A"/>
                </a:solidFill>
                <a:latin typeface="Open Sans"/>
                <a:ea typeface="Open Sans"/>
                <a:cs typeface="Open Sans"/>
                <a:sym typeface="Open Sans"/>
              </a:rPr>
              <a:t>Global state and dispatched actions</a:t>
            </a:r>
          </a:p>
        </p:txBody>
      </p:sp>
      <p:sp>
        <p:nvSpPr>
          <p:cNvPr name="TextBox 13" id="13"/>
          <p:cNvSpPr txBox="true"/>
          <p:nvPr/>
        </p:nvSpPr>
        <p:spPr>
          <a:xfrm rot="0">
            <a:off x="1425902" y="4843024"/>
            <a:ext cx="3606498" cy="460334"/>
          </a:xfrm>
          <a:prstGeom prst="rect">
            <a:avLst/>
          </a:prstGeom>
        </p:spPr>
        <p:txBody>
          <a:bodyPr anchor="t" rtlCol="false" tIns="0" lIns="0" bIns="0" rIns="0">
            <a:spAutoFit/>
          </a:bodyPr>
          <a:lstStyle/>
          <a:p>
            <a:pPr algn="r">
              <a:lnSpc>
                <a:spcPts val="3494"/>
              </a:lnSpc>
            </a:pPr>
            <a:r>
              <a:rPr lang="en-US" sz="2799">
                <a:solidFill>
                  <a:srgbClr val="49495A"/>
                </a:solidFill>
                <a:latin typeface="Libre Baskerville"/>
                <a:ea typeface="Libre Baskerville"/>
                <a:cs typeface="Libre Baskerville"/>
                <a:sym typeface="Libre Baskerville"/>
              </a:rPr>
              <a:t>React Components</a:t>
            </a:r>
          </a:p>
        </p:txBody>
      </p:sp>
      <p:sp>
        <p:nvSpPr>
          <p:cNvPr name="TextBox 14" id="14"/>
          <p:cNvSpPr txBox="true"/>
          <p:nvPr/>
        </p:nvSpPr>
        <p:spPr>
          <a:xfrm rot="0">
            <a:off x="1377820" y="5488743"/>
            <a:ext cx="3654581" cy="483822"/>
          </a:xfrm>
          <a:prstGeom prst="rect">
            <a:avLst/>
          </a:prstGeom>
        </p:spPr>
        <p:txBody>
          <a:bodyPr anchor="t" rtlCol="false" tIns="0" lIns="0" bIns="0" rIns="0">
            <a:spAutoFit/>
          </a:bodyPr>
          <a:lstStyle/>
          <a:p>
            <a:pPr algn="r">
              <a:lnSpc>
                <a:spcPts val="2059"/>
              </a:lnSpc>
            </a:pPr>
            <a:r>
              <a:rPr lang="en-US" sz="2200">
                <a:solidFill>
                  <a:srgbClr val="49495A"/>
                </a:solidFill>
                <a:latin typeface="Open Sans"/>
                <a:ea typeface="Open Sans"/>
                <a:cs typeface="Open Sans"/>
                <a:sym typeface="Open Sans"/>
              </a:rPr>
              <a:t>Pages and presentational components</a:t>
            </a:r>
          </a:p>
        </p:txBody>
      </p:sp>
      <p:sp>
        <p:nvSpPr>
          <p:cNvPr name="TextBox 15" id="15"/>
          <p:cNvSpPr txBox="true"/>
          <p:nvPr/>
        </p:nvSpPr>
        <p:spPr>
          <a:xfrm rot="0">
            <a:off x="12934617" y="6109297"/>
            <a:ext cx="3606489" cy="460334"/>
          </a:xfrm>
          <a:prstGeom prst="rect">
            <a:avLst/>
          </a:prstGeom>
        </p:spPr>
        <p:txBody>
          <a:bodyPr anchor="t" rtlCol="false" tIns="0" lIns="0" bIns="0" rIns="0">
            <a:spAutoFit/>
          </a:bodyPr>
          <a:lstStyle/>
          <a:p>
            <a:pPr algn="l">
              <a:lnSpc>
                <a:spcPts val="3494"/>
              </a:lnSpc>
            </a:pPr>
            <a:r>
              <a:rPr lang="en-US" sz="2799">
                <a:solidFill>
                  <a:srgbClr val="49495A"/>
                </a:solidFill>
                <a:latin typeface="Libre Baskerville"/>
                <a:ea typeface="Libre Baskerville"/>
                <a:cs typeface="Libre Baskerville"/>
                <a:sym typeface="Libre Baskerville"/>
              </a:rPr>
              <a:t>User Interface</a:t>
            </a:r>
          </a:p>
        </p:txBody>
      </p:sp>
      <p:sp>
        <p:nvSpPr>
          <p:cNvPr name="TextBox 16" id="16"/>
          <p:cNvSpPr txBox="true"/>
          <p:nvPr/>
        </p:nvSpPr>
        <p:spPr>
          <a:xfrm rot="0">
            <a:off x="12934617" y="6755016"/>
            <a:ext cx="3975154" cy="483822"/>
          </a:xfrm>
          <a:prstGeom prst="rect">
            <a:avLst/>
          </a:prstGeom>
        </p:spPr>
        <p:txBody>
          <a:bodyPr anchor="t" rtlCol="false" tIns="0" lIns="0" bIns="0" rIns="0">
            <a:spAutoFit/>
          </a:bodyPr>
          <a:lstStyle/>
          <a:p>
            <a:pPr algn="l">
              <a:lnSpc>
                <a:spcPts val="2059"/>
              </a:lnSpc>
            </a:pPr>
            <a:r>
              <a:rPr lang="en-US" sz="2200">
                <a:solidFill>
                  <a:srgbClr val="49495A"/>
                </a:solidFill>
                <a:latin typeface="Open Sans"/>
                <a:ea typeface="Open Sans"/>
                <a:cs typeface="Open Sans"/>
                <a:sym typeface="Open Sans"/>
              </a:rPr>
              <a:t>Browser-based user interactions</a:t>
            </a:r>
          </a:p>
        </p:txBody>
      </p:sp>
      <p:sp>
        <p:nvSpPr>
          <p:cNvPr name="TextBox 17" id="17"/>
          <p:cNvSpPr txBox="true"/>
          <p:nvPr/>
        </p:nvSpPr>
        <p:spPr>
          <a:xfrm rot="0">
            <a:off x="992238" y="8905132"/>
            <a:ext cx="17217923" cy="170107"/>
          </a:xfrm>
          <a:prstGeom prst="rect">
            <a:avLst/>
          </a:prstGeom>
        </p:spPr>
        <p:txBody>
          <a:bodyPr anchor="t" rtlCol="false" tIns="0" lIns="0" bIns="0" rIns="0">
            <a:spAutoFit/>
          </a:bodyPr>
          <a:lstStyle/>
          <a:p>
            <a:pPr algn="l">
              <a:lnSpc>
                <a:spcPts val="1320"/>
              </a:lnSpc>
            </a:pPr>
            <a:r>
              <a:rPr lang="en-US" sz="1100">
                <a:solidFill>
                  <a:srgbClr val="49495A"/>
                </a:solidFill>
                <a:latin typeface="Open Sans"/>
                <a:ea typeface="Open Sans"/>
                <a:cs typeface="Open Sans"/>
                <a:sym typeface="Open Sans"/>
              </a:rPr>
              <a:t>A clean separation of concerns ensures maintainability. The UI layer communicates exclusively through Redux, which dispatches actions via Axios to the REST API — keeping components pure and predictable.</a:t>
            </a:r>
          </a:p>
        </p:txBody>
      </p:sp>
      <p:grpSp>
        <p:nvGrpSpPr>
          <p:cNvPr name="Group 18" id="18"/>
          <p:cNvGrpSpPr/>
          <p:nvPr/>
        </p:nvGrpSpPr>
        <p:grpSpPr>
          <a:xfrm rot="0">
            <a:off x="992238" y="9154868"/>
            <a:ext cx="16303523" cy="715718"/>
            <a:chOff x="0" y="0"/>
            <a:chExt cx="21738031" cy="954291"/>
          </a:xfrm>
        </p:grpSpPr>
        <p:sp>
          <p:nvSpPr>
            <p:cNvPr name="Freeform 19" id="19"/>
            <p:cNvSpPr/>
            <p:nvPr/>
          </p:nvSpPr>
          <p:spPr>
            <a:xfrm flipH="false" flipV="false" rot="0">
              <a:off x="0" y="0"/>
              <a:ext cx="21737955" cy="954278"/>
            </a:xfrm>
            <a:custGeom>
              <a:avLst/>
              <a:gdLst/>
              <a:ahLst/>
              <a:cxnLst/>
              <a:rect r="r" b="b" t="t" l="l"/>
              <a:pathLst>
                <a:path h="954278" w="21737955">
                  <a:moveTo>
                    <a:pt x="0" y="28321"/>
                  </a:moveTo>
                  <a:cubicBezTo>
                    <a:pt x="0" y="12700"/>
                    <a:pt x="12700" y="0"/>
                    <a:pt x="28321" y="0"/>
                  </a:cubicBezTo>
                  <a:lnTo>
                    <a:pt x="21709635" y="0"/>
                  </a:lnTo>
                  <a:cubicBezTo>
                    <a:pt x="21725255" y="0"/>
                    <a:pt x="21737955" y="12700"/>
                    <a:pt x="21737955" y="28321"/>
                  </a:cubicBezTo>
                  <a:lnTo>
                    <a:pt x="21737955" y="925957"/>
                  </a:lnTo>
                  <a:cubicBezTo>
                    <a:pt x="21737955" y="941578"/>
                    <a:pt x="21725255" y="954278"/>
                    <a:pt x="21709635" y="954278"/>
                  </a:cubicBezTo>
                  <a:lnTo>
                    <a:pt x="28321" y="954278"/>
                  </a:lnTo>
                  <a:cubicBezTo>
                    <a:pt x="12700" y="954278"/>
                    <a:pt x="0" y="941578"/>
                    <a:pt x="0" y="925957"/>
                  </a:cubicBezTo>
                  <a:close/>
                </a:path>
              </a:pathLst>
            </a:custGeom>
            <a:solidFill>
              <a:srgbClr val="D7D6F5"/>
            </a:solidFill>
          </p:spPr>
        </p:sp>
      </p:grpSp>
      <p:grpSp>
        <p:nvGrpSpPr>
          <p:cNvPr name="Group 20" id="20"/>
          <p:cNvGrpSpPr/>
          <p:nvPr/>
        </p:nvGrpSpPr>
        <p:grpSpPr>
          <a:xfrm rot="0">
            <a:off x="1133923" y="9331966"/>
            <a:ext cx="177108" cy="141684"/>
            <a:chOff x="0" y="0"/>
            <a:chExt cx="236144" cy="188912"/>
          </a:xfrm>
        </p:grpSpPr>
        <p:sp>
          <p:nvSpPr>
            <p:cNvPr name="Freeform 21" id="21" descr="preencoded.png"/>
            <p:cNvSpPr/>
            <p:nvPr/>
          </p:nvSpPr>
          <p:spPr>
            <a:xfrm flipH="false" flipV="false" rot="0">
              <a:off x="0" y="0"/>
              <a:ext cx="236093" cy="188849"/>
            </a:xfrm>
            <a:custGeom>
              <a:avLst/>
              <a:gdLst/>
              <a:ahLst/>
              <a:cxnLst/>
              <a:rect r="r" b="b" t="t" l="l"/>
              <a:pathLst>
                <a:path h="188849" w="236093">
                  <a:moveTo>
                    <a:pt x="0" y="0"/>
                  </a:moveTo>
                  <a:lnTo>
                    <a:pt x="236093" y="0"/>
                  </a:lnTo>
                  <a:lnTo>
                    <a:pt x="236093" y="188849"/>
                  </a:lnTo>
                  <a:lnTo>
                    <a:pt x="0" y="188849"/>
                  </a:lnTo>
                  <a:lnTo>
                    <a:pt x="0" y="0"/>
                  </a:lnTo>
                  <a:close/>
                </a:path>
              </a:pathLst>
            </a:custGeom>
            <a:blipFill>
              <a:blip r:embed="rId6"/>
              <a:stretch>
                <a:fillRect l="-667" t="0" r="-688" b="-33"/>
              </a:stretch>
            </a:blipFill>
          </p:spPr>
        </p:sp>
      </p:grpSp>
      <p:sp>
        <p:nvSpPr>
          <p:cNvPr name="TextBox 22" id="22"/>
          <p:cNvSpPr txBox="true"/>
          <p:nvPr/>
        </p:nvSpPr>
        <p:spPr>
          <a:xfrm rot="0">
            <a:off x="1452715" y="9261129"/>
            <a:ext cx="15701372" cy="510330"/>
          </a:xfrm>
          <a:prstGeom prst="rect">
            <a:avLst/>
          </a:prstGeom>
        </p:spPr>
        <p:txBody>
          <a:bodyPr anchor="t" rtlCol="false" tIns="0" lIns="0" bIns="0" rIns="0">
            <a:spAutoFit/>
          </a:bodyPr>
          <a:lstStyle/>
          <a:p>
            <a:pPr algn="l">
              <a:lnSpc>
                <a:spcPts val="1320"/>
              </a:lnSpc>
            </a:pPr>
            <a:r>
              <a:rPr lang="en-US" sz="1100" b="true">
                <a:solidFill>
                  <a:srgbClr val="000000"/>
                </a:solidFill>
                <a:latin typeface="Open Sans Bold"/>
                <a:ea typeface="Open Sans Bold"/>
                <a:cs typeface="Open Sans Bold"/>
                <a:sym typeface="Open Sans Bold"/>
              </a:rPr>
              <a:t>Speaker Notes:</a:t>
            </a:r>
            <a:r>
              <a:rPr lang="en-US" sz="1100">
                <a:solidFill>
                  <a:srgbClr val="000000"/>
                </a:solidFill>
                <a:latin typeface="Open Sans"/>
                <a:ea typeface="Open Sans"/>
                <a:cs typeface="Open Sans"/>
                <a:sym typeface="Open Sans"/>
              </a:rPr>
              <a:t> This architecture follows a strict unidirectional data flow. Users interact with React components, which dispatch actions to the Redux store. Redux triggers async thunks that call Axios to fetch data from the JSON Server REST API. The response flows back through Redux, updating the store, which re-renders the relevant components. This separation keeps components pure — they only read from the store and dispatch actions — making the app predictable and easy to debug.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860527"/>
            <a:ext cx="16303523" cy="808139"/>
          </a:xfrm>
          <a:prstGeom prst="rect">
            <a:avLst/>
          </a:prstGeom>
        </p:spPr>
        <p:txBody>
          <a:bodyPr anchor="t" rtlCol="false" tIns="0" lIns="0" bIns="0" rIns="0">
            <a:spAutoFit/>
          </a:bodyPr>
          <a:lstStyle/>
          <a:p>
            <a:pPr algn="l">
              <a:lnSpc>
                <a:spcPts val="6115"/>
              </a:lnSpc>
            </a:pPr>
            <a:r>
              <a:rPr lang="en-US" sz="4900">
                <a:solidFill>
                  <a:srgbClr val="403CCF"/>
                </a:solidFill>
                <a:latin typeface="Libre Baskerville"/>
                <a:ea typeface="Libre Baskerville"/>
                <a:cs typeface="Libre Baskerville"/>
                <a:sym typeface="Libre Baskerville"/>
              </a:rPr>
              <a:t>Folder Structure &amp; Component Architecture</a:t>
            </a:r>
          </a:p>
        </p:txBody>
      </p:sp>
      <p:sp>
        <p:nvSpPr>
          <p:cNvPr name="TextBox 7" id="7"/>
          <p:cNvSpPr txBox="true"/>
          <p:nvPr/>
        </p:nvSpPr>
        <p:spPr>
          <a:xfrm rot="0">
            <a:off x="992238" y="2230784"/>
            <a:ext cx="7843685" cy="394545"/>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Project Structure</a:t>
            </a:r>
          </a:p>
        </p:txBody>
      </p:sp>
      <p:grpSp>
        <p:nvGrpSpPr>
          <p:cNvPr name="Group 8" id="8"/>
          <p:cNvGrpSpPr/>
          <p:nvPr/>
        </p:nvGrpSpPr>
        <p:grpSpPr>
          <a:xfrm rot="0">
            <a:off x="992238" y="2878341"/>
            <a:ext cx="7843685" cy="3941864"/>
            <a:chOff x="0" y="0"/>
            <a:chExt cx="10458247" cy="5255819"/>
          </a:xfrm>
        </p:grpSpPr>
        <p:sp>
          <p:nvSpPr>
            <p:cNvPr name="Freeform 9" id="9"/>
            <p:cNvSpPr/>
            <p:nvPr/>
          </p:nvSpPr>
          <p:spPr>
            <a:xfrm flipH="false" flipV="false" rot="0">
              <a:off x="0" y="0"/>
              <a:ext cx="10458323" cy="5255895"/>
            </a:xfrm>
            <a:custGeom>
              <a:avLst/>
              <a:gdLst/>
              <a:ahLst/>
              <a:cxnLst/>
              <a:rect r="r" b="b" t="t" l="l"/>
              <a:pathLst>
                <a:path h="5255895" w="10458323">
                  <a:moveTo>
                    <a:pt x="0" y="50546"/>
                  </a:moveTo>
                  <a:cubicBezTo>
                    <a:pt x="0" y="22606"/>
                    <a:pt x="22606" y="0"/>
                    <a:pt x="50546" y="0"/>
                  </a:cubicBezTo>
                  <a:lnTo>
                    <a:pt x="10407777" y="0"/>
                  </a:lnTo>
                  <a:cubicBezTo>
                    <a:pt x="10435717" y="0"/>
                    <a:pt x="10458323" y="22606"/>
                    <a:pt x="10458323" y="50546"/>
                  </a:cubicBezTo>
                  <a:lnTo>
                    <a:pt x="10458323" y="5205349"/>
                  </a:lnTo>
                  <a:cubicBezTo>
                    <a:pt x="10458323" y="5233289"/>
                    <a:pt x="10435717" y="5255895"/>
                    <a:pt x="10407777" y="5255895"/>
                  </a:cubicBezTo>
                  <a:lnTo>
                    <a:pt x="50546" y="5255895"/>
                  </a:lnTo>
                  <a:cubicBezTo>
                    <a:pt x="22606" y="5255895"/>
                    <a:pt x="0" y="5233289"/>
                    <a:pt x="0" y="5205349"/>
                  </a:cubicBezTo>
                  <a:close/>
                </a:path>
              </a:pathLst>
            </a:custGeom>
            <a:solidFill>
              <a:srgbClr val="EEEDF2"/>
            </a:solidFill>
          </p:spPr>
        </p:sp>
      </p:grpSp>
      <p:grpSp>
        <p:nvGrpSpPr>
          <p:cNvPr name="Group 10" id="10"/>
          <p:cNvGrpSpPr/>
          <p:nvPr/>
        </p:nvGrpSpPr>
        <p:grpSpPr>
          <a:xfrm rot="0">
            <a:off x="979732" y="2878341"/>
            <a:ext cx="7868688" cy="3941864"/>
            <a:chOff x="0" y="0"/>
            <a:chExt cx="10491584" cy="5255819"/>
          </a:xfrm>
        </p:grpSpPr>
        <p:sp>
          <p:nvSpPr>
            <p:cNvPr name="Freeform 11" id="11"/>
            <p:cNvSpPr/>
            <p:nvPr/>
          </p:nvSpPr>
          <p:spPr>
            <a:xfrm flipH="false" flipV="false" rot="0">
              <a:off x="0" y="0"/>
              <a:ext cx="10491597" cy="5255895"/>
            </a:xfrm>
            <a:custGeom>
              <a:avLst/>
              <a:gdLst/>
              <a:ahLst/>
              <a:cxnLst/>
              <a:rect r="r" b="b" t="t" l="l"/>
              <a:pathLst>
                <a:path h="5255895" w="10491597">
                  <a:moveTo>
                    <a:pt x="0" y="50546"/>
                  </a:moveTo>
                  <a:cubicBezTo>
                    <a:pt x="0" y="22606"/>
                    <a:pt x="22606" y="0"/>
                    <a:pt x="50546" y="0"/>
                  </a:cubicBezTo>
                  <a:lnTo>
                    <a:pt x="10441051" y="0"/>
                  </a:lnTo>
                  <a:cubicBezTo>
                    <a:pt x="10468991" y="0"/>
                    <a:pt x="10491597" y="22606"/>
                    <a:pt x="10491597" y="50546"/>
                  </a:cubicBezTo>
                  <a:lnTo>
                    <a:pt x="10491597" y="5205349"/>
                  </a:lnTo>
                  <a:cubicBezTo>
                    <a:pt x="10491597" y="5233289"/>
                    <a:pt x="10468991" y="5255895"/>
                    <a:pt x="10441051" y="5255895"/>
                  </a:cubicBezTo>
                  <a:lnTo>
                    <a:pt x="50546" y="5255895"/>
                  </a:lnTo>
                  <a:cubicBezTo>
                    <a:pt x="22606" y="5255895"/>
                    <a:pt x="0" y="5233289"/>
                    <a:pt x="0" y="5205349"/>
                  </a:cubicBezTo>
                  <a:close/>
                </a:path>
              </a:pathLst>
            </a:custGeom>
            <a:solidFill>
              <a:srgbClr val="EEEDF2"/>
            </a:solidFill>
          </p:spPr>
        </p:sp>
      </p:grpSp>
      <p:sp>
        <p:nvSpPr>
          <p:cNvPr name="TextBox 12" id="12"/>
          <p:cNvSpPr txBox="true"/>
          <p:nvPr/>
        </p:nvSpPr>
        <p:spPr>
          <a:xfrm rot="0">
            <a:off x="1295248" y="3035494"/>
            <a:ext cx="7237657" cy="3532289"/>
          </a:xfrm>
          <a:prstGeom prst="rect">
            <a:avLst/>
          </a:prstGeom>
        </p:spPr>
        <p:txBody>
          <a:bodyPr anchor="t" rtlCol="false" tIns="0" lIns="0" bIns="0" rIns="0">
            <a:spAutoFit/>
          </a:bodyPr>
          <a:lstStyle/>
          <a:p>
            <a:pPr algn="l">
              <a:lnSpc>
                <a:spcPts val="2872"/>
              </a:lnSpc>
            </a:pPr>
            <a:r>
              <a:rPr lang="en-US" sz="1900">
                <a:solidFill>
                  <a:srgbClr val="49495A"/>
                </a:solidFill>
                <a:latin typeface="Consolas"/>
                <a:ea typeface="Consolas"/>
                <a:cs typeface="Consolas"/>
                <a:sym typeface="Consolas"/>
              </a:rPr>
              <a:t>src/</a:t>
            </a:r>
          </a:p>
          <a:p>
            <a:pPr algn="l">
              <a:lnSpc>
                <a:spcPts val="2872"/>
              </a:lnSpc>
            </a:pPr>
            <a:r>
              <a:rPr lang="en-US" sz="1900">
                <a:solidFill>
                  <a:srgbClr val="49495A"/>
                </a:solidFill>
                <a:latin typeface="Consolas"/>
                <a:ea typeface="Consolas"/>
                <a:cs typeface="Consolas"/>
                <a:sym typeface="Consolas"/>
              </a:rPr>
              <a:t>├── components/     # Reusable UI</a:t>
            </a:r>
          </a:p>
          <a:p>
            <a:pPr algn="l">
              <a:lnSpc>
                <a:spcPts val="2872"/>
              </a:lnSpc>
            </a:pPr>
            <a:r>
              <a:rPr lang="en-US" sz="1900">
                <a:solidFill>
                  <a:srgbClr val="49495A"/>
                </a:solidFill>
                <a:latin typeface="Consolas"/>
                <a:ea typeface="Consolas"/>
                <a:cs typeface="Consolas"/>
                <a:sym typeface="Consolas"/>
              </a:rPr>
              <a:t>├── pages/          # Route views</a:t>
            </a:r>
          </a:p>
          <a:p>
            <a:pPr algn="l">
              <a:lnSpc>
                <a:spcPts val="2872"/>
              </a:lnSpc>
            </a:pPr>
            <a:r>
              <a:rPr lang="en-US" sz="1900">
                <a:solidFill>
                  <a:srgbClr val="49495A"/>
                </a:solidFill>
                <a:latin typeface="Consolas"/>
                <a:ea typeface="Consolas"/>
                <a:cs typeface="Consolas"/>
                <a:sym typeface="Consolas"/>
              </a:rPr>
              <a:t>├── redux/          # Store, slices</a:t>
            </a:r>
          </a:p>
          <a:p>
            <a:pPr algn="l">
              <a:lnSpc>
                <a:spcPts val="2872"/>
              </a:lnSpc>
            </a:pPr>
            <a:r>
              <a:rPr lang="en-US" sz="1900">
                <a:solidFill>
                  <a:srgbClr val="49495A"/>
                </a:solidFill>
                <a:latin typeface="Consolas"/>
                <a:ea typeface="Consolas"/>
                <a:cs typeface="Consolas"/>
                <a:sym typeface="Consolas"/>
              </a:rPr>
              <a:t>├── services/       # Axios API calls</a:t>
            </a:r>
          </a:p>
          <a:p>
            <a:pPr algn="l">
              <a:lnSpc>
                <a:spcPts val="2872"/>
              </a:lnSpc>
            </a:pPr>
            <a:r>
              <a:rPr lang="en-US" sz="1900">
                <a:solidFill>
                  <a:srgbClr val="49495A"/>
                </a:solidFill>
                <a:latin typeface="Consolas"/>
                <a:ea typeface="Consolas"/>
                <a:cs typeface="Consolas"/>
                <a:sym typeface="Consolas"/>
              </a:rPr>
              <a:t>├── assets/         # Images, fonts</a:t>
            </a:r>
          </a:p>
          <a:p>
            <a:pPr algn="l">
              <a:lnSpc>
                <a:spcPts val="2872"/>
              </a:lnSpc>
            </a:pPr>
            <a:r>
              <a:rPr lang="en-US" sz="1900">
                <a:solidFill>
                  <a:srgbClr val="49495A"/>
                </a:solidFill>
                <a:latin typeface="Consolas"/>
                <a:ea typeface="Consolas"/>
                <a:cs typeface="Consolas"/>
                <a:sym typeface="Consolas"/>
              </a:rPr>
              <a:t>├── layouts/        # Page wrappers</a:t>
            </a:r>
          </a:p>
          <a:p>
            <a:pPr algn="l">
              <a:lnSpc>
                <a:spcPts val="2872"/>
              </a:lnSpc>
            </a:pPr>
            <a:r>
              <a:rPr lang="en-US" sz="1900">
                <a:solidFill>
                  <a:srgbClr val="49495A"/>
                </a:solidFill>
                <a:latin typeface="Consolas"/>
                <a:ea typeface="Consolas"/>
                <a:cs typeface="Consolas"/>
                <a:sym typeface="Consolas"/>
              </a:rPr>
              <a:t>├── routes/         # Route config</a:t>
            </a:r>
          </a:p>
          <a:p>
            <a:pPr algn="l">
              <a:lnSpc>
                <a:spcPts val="2872"/>
              </a:lnSpc>
            </a:pPr>
            <a:r>
              <a:rPr lang="en-US" sz="1900">
                <a:solidFill>
                  <a:srgbClr val="49495A"/>
                </a:solidFill>
                <a:latin typeface="Consolas"/>
                <a:ea typeface="Consolas"/>
                <a:cs typeface="Consolas"/>
                <a:sym typeface="Consolas"/>
              </a:rPr>
              <a:t>└── admin/          # Admin module</a:t>
            </a:r>
          </a:p>
        </p:txBody>
      </p:sp>
      <p:sp>
        <p:nvSpPr>
          <p:cNvPr name="TextBox 13" id="13"/>
          <p:cNvSpPr txBox="true"/>
          <p:nvPr/>
        </p:nvSpPr>
        <p:spPr>
          <a:xfrm rot="0">
            <a:off x="9461602" y="2230784"/>
            <a:ext cx="7843685" cy="394545"/>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Component Hierarchy</a:t>
            </a:r>
          </a:p>
        </p:txBody>
      </p:sp>
      <p:sp>
        <p:nvSpPr>
          <p:cNvPr name="TextBox 14" id="14"/>
          <p:cNvSpPr txBox="true"/>
          <p:nvPr/>
        </p:nvSpPr>
        <p:spPr>
          <a:xfrm rot="0">
            <a:off x="9461602" y="2793054"/>
            <a:ext cx="7843685" cy="1820466"/>
          </a:xfrm>
          <a:prstGeom prst="rect">
            <a:avLst/>
          </a:prstGeom>
        </p:spPr>
        <p:txBody>
          <a:bodyPr anchor="t" rtlCol="false" tIns="0" lIns="0" bIns="0" rIns="0">
            <a:spAutoFit/>
          </a:bodyPr>
          <a:lstStyle/>
          <a:p>
            <a:pPr algn="l" marL="458470" indent="-229235" lvl="1">
              <a:lnSpc>
                <a:spcPts val="2872"/>
              </a:lnSpc>
              <a:buFont typeface="Arial"/>
              <a:buChar char="•"/>
            </a:pPr>
            <a:r>
              <a:rPr lang="en-US" b="true" sz="1900">
                <a:solidFill>
                  <a:srgbClr val="49495A"/>
                </a:solidFill>
                <a:latin typeface="Open Sans Bold"/>
                <a:ea typeface="Open Sans Bold"/>
                <a:cs typeface="Open Sans Bold"/>
                <a:sym typeface="Open Sans Bold"/>
              </a:rPr>
              <a:t>Layouts:</a:t>
            </a:r>
            <a:r>
              <a:rPr lang="en-US" sz="1900">
                <a:solidFill>
                  <a:srgbClr val="49495A"/>
                </a:solidFill>
                <a:latin typeface="Open Sans"/>
                <a:ea typeface="Open Sans"/>
                <a:cs typeface="Open Sans"/>
                <a:sym typeface="Open Sans"/>
              </a:rPr>
              <a:t> Navbar, Footer, AdminLayout</a:t>
            </a:r>
          </a:p>
          <a:p>
            <a:pPr algn="l" marL="458470" indent="-229235" lvl="1">
              <a:lnSpc>
                <a:spcPts val="2872"/>
              </a:lnSpc>
              <a:buFont typeface="Arial"/>
              <a:buChar char="•"/>
            </a:pPr>
            <a:r>
              <a:rPr lang="en-US" b="true" sz="1900">
                <a:solidFill>
                  <a:srgbClr val="49495A"/>
                </a:solidFill>
                <a:latin typeface="Open Sans Bold"/>
                <a:ea typeface="Open Sans Bold"/>
                <a:cs typeface="Open Sans Bold"/>
                <a:sym typeface="Open Sans Bold"/>
              </a:rPr>
              <a:t>Pages:</a:t>
            </a:r>
            <a:r>
              <a:rPr lang="en-US" sz="1900">
                <a:solidFill>
                  <a:srgbClr val="49495A"/>
                </a:solidFill>
                <a:latin typeface="Open Sans"/>
                <a:ea typeface="Open Sans"/>
                <a:cs typeface="Open Sans"/>
                <a:sym typeface="Open Sans"/>
              </a:rPr>
              <a:t> Home, Products, Cart, Checkout, Orders</a:t>
            </a:r>
          </a:p>
          <a:p>
            <a:pPr algn="l" marL="458470" indent="-229235" lvl="1">
              <a:lnSpc>
                <a:spcPts val="2872"/>
              </a:lnSpc>
              <a:buFont typeface="Arial"/>
              <a:buChar char="•"/>
            </a:pPr>
            <a:r>
              <a:rPr lang="en-US" b="true" sz="1900">
                <a:solidFill>
                  <a:srgbClr val="49495A"/>
                </a:solidFill>
                <a:latin typeface="Open Sans Bold"/>
                <a:ea typeface="Open Sans Bold"/>
                <a:cs typeface="Open Sans Bold"/>
                <a:sym typeface="Open Sans Bold"/>
              </a:rPr>
              <a:t>Shared:</a:t>
            </a:r>
            <a:r>
              <a:rPr lang="en-US" sz="1900">
                <a:solidFill>
                  <a:srgbClr val="49495A"/>
                </a:solidFill>
                <a:latin typeface="Open Sans"/>
                <a:ea typeface="Open Sans"/>
                <a:cs typeface="Open Sans"/>
                <a:sym typeface="Open Sans"/>
              </a:rPr>
              <a:t> ProductCard, Loader, Toast</a:t>
            </a:r>
          </a:p>
          <a:p>
            <a:pPr algn="l" marL="458470" indent="-229235" lvl="1">
              <a:lnSpc>
                <a:spcPts val="2872"/>
              </a:lnSpc>
              <a:buFont typeface="Arial"/>
              <a:buChar char="•"/>
            </a:pPr>
            <a:r>
              <a:rPr lang="en-US" b="true" sz="1900">
                <a:solidFill>
                  <a:srgbClr val="49495A"/>
                </a:solidFill>
                <a:latin typeface="Open Sans Bold"/>
                <a:ea typeface="Open Sans Bold"/>
                <a:cs typeface="Open Sans Bold"/>
                <a:sym typeface="Open Sans Bold"/>
              </a:rPr>
              <a:t>Features:</a:t>
            </a:r>
            <a:r>
              <a:rPr lang="en-US" sz="1900">
                <a:solidFill>
                  <a:srgbClr val="49495A"/>
                </a:solidFill>
                <a:latin typeface="Open Sans"/>
                <a:ea typeface="Open Sans"/>
                <a:cs typeface="Open Sans"/>
                <a:sym typeface="Open Sans"/>
              </a:rPr>
              <a:t> CartItem, WishlistBtn, OrderSummary</a:t>
            </a:r>
          </a:p>
        </p:txBody>
      </p:sp>
      <p:grpSp>
        <p:nvGrpSpPr>
          <p:cNvPr name="Group 15" id="15"/>
          <p:cNvGrpSpPr/>
          <p:nvPr/>
        </p:nvGrpSpPr>
        <p:grpSpPr>
          <a:xfrm rot="0">
            <a:off x="9461602" y="4866532"/>
            <a:ext cx="7843685" cy="1676695"/>
            <a:chOff x="0" y="0"/>
            <a:chExt cx="10458247" cy="2235594"/>
          </a:xfrm>
        </p:grpSpPr>
        <p:sp>
          <p:nvSpPr>
            <p:cNvPr name="Freeform 16" id="16"/>
            <p:cNvSpPr/>
            <p:nvPr/>
          </p:nvSpPr>
          <p:spPr>
            <a:xfrm flipH="false" flipV="false" rot="0">
              <a:off x="0" y="0"/>
              <a:ext cx="10458323" cy="2235581"/>
            </a:xfrm>
            <a:custGeom>
              <a:avLst/>
              <a:gdLst/>
              <a:ahLst/>
              <a:cxnLst/>
              <a:rect r="r" b="b" t="t" l="l"/>
              <a:pathLst>
                <a:path h="2235581" w="10458323">
                  <a:moveTo>
                    <a:pt x="0" y="50546"/>
                  </a:moveTo>
                  <a:cubicBezTo>
                    <a:pt x="0" y="22606"/>
                    <a:pt x="22606" y="0"/>
                    <a:pt x="50546" y="0"/>
                  </a:cubicBezTo>
                  <a:lnTo>
                    <a:pt x="10407777" y="0"/>
                  </a:lnTo>
                  <a:cubicBezTo>
                    <a:pt x="10435717" y="0"/>
                    <a:pt x="10458323" y="22606"/>
                    <a:pt x="10458323" y="50546"/>
                  </a:cubicBezTo>
                  <a:lnTo>
                    <a:pt x="10458323" y="2185035"/>
                  </a:lnTo>
                  <a:cubicBezTo>
                    <a:pt x="10458323" y="2212975"/>
                    <a:pt x="10435717" y="2235581"/>
                    <a:pt x="10407777" y="2235581"/>
                  </a:cubicBezTo>
                  <a:lnTo>
                    <a:pt x="50546" y="2235581"/>
                  </a:lnTo>
                  <a:cubicBezTo>
                    <a:pt x="22606" y="2235581"/>
                    <a:pt x="0" y="2212975"/>
                    <a:pt x="0" y="2185035"/>
                  </a:cubicBezTo>
                  <a:close/>
                </a:path>
              </a:pathLst>
            </a:custGeom>
            <a:solidFill>
              <a:srgbClr val="D7D6F5"/>
            </a:solidFill>
          </p:spPr>
        </p:sp>
      </p:grpSp>
      <p:grpSp>
        <p:nvGrpSpPr>
          <p:cNvPr name="Group 17" id="17"/>
          <p:cNvGrpSpPr/>
          <p:nvPr/>
        </p:nvGrpSpPr>
        <p:grpSpPr>
          <a:xfrm rot="0">
            <a:off x="9714014" y="5246932"/>
            <a:ext cx="315516" cy="252412"/>
            <a:chOff x="0" y="0"/>
            <a:chExt cx="420688" cy="336550"/>
          </a:xfrm>
        </p:grpSpPr>
        <p:sp>
          <p:nvSpPr>
            <p:cNvPr name="Freeform 18" id="18" descr="preencoded.png"/>
            <p:cNvSpPr/>
            <p:nvPr/>
          </p:nvSpPr>
          <p:spPr>
            <a:xfrm flipH="false" flipV="false" rot="0">
              <a:off x="0" y="0"/>
              <a:ext cx="420751" cy="336550"/>
            </a:xfrm>
            <a:custGeom>
              <a:avLst/>
              <a:gdLst/>
              <a:ahLst/>
              <a:cxnLst/>
              <a:rect r="r" b="b" t="t" l="l"/>
              <a:pathLst>
                <a:path h="336550" w="420751">
                  <a:moveTo>
                    <a:pt x="0" y="0"/>
                  </a:moveTo>
                  <a:lnTo>
                    <a:pt x="420751" y="0"/>
                  </a:lnTo>
                  <a:lnTo>
                    <a:pt x="420751" y="336550"/>
                  </a:lnTo>
                  <a:lnTo>
                    <a:pt x="0" y="336550"/>
                  </a:lnTo>
                  <a:lnTo>
                    <a:pt x="0" y="0"/>
                  </a:lnTo>
                  <a:close/>
                </a:path>
              </a:pathLst>
            </a:custGeom>
            <a:blipFill>
              <a:blip r:embed="rId3"/>
              <a:stretch>
                <a:fillRect l="-371" t="0" r="-353" b="0"/>
              </a:stretch>
            </a:blipFill>
          </p:spPr>
        </p:sp>
      </p:grpSp>
      <p:sp>
        <p:nvSpPr>
          <p:cNvPr name="TextBox 19" id="19"/>
          <p:cNvSpPr txBox="true"/>
          <p:nvPr/>
        </p:nvSpPr>
        <p:spPr>
          <a:xfrm rot="0">
            <a:off x="10281942" y="5074891"/>
            <a:ext cx="6770932" cy="1202827"/>
          </a:xfrm>
          <a:prstGeom prst="rect">
            <a:avLst/>
          </a:prstGeom>
        </p:spPr>
        <p:txBody>
          <a:bodyPr anchor="t" rtlCol="false" tIns="0" lIns="0" bIns="0" rIns="0">
            <a:spAutoFit/>
          </a:bodyPr>
          <a:lstStyle/>
          <a:p>
            <a:pPr algn="l">
              <a:lnSpc>
                <a:spcPts val="2872"/>
              </a:lnSpc>
            </a:pPr>
            <a:r>
              <a:rPr lang="en-US" sz="1900">
                <a:solidFill>
                  <a:srgbClr val="000000"/>
                </a:solidFill>
                <a:latin typeface="Open Sans"/>
                <a:ea typeface="Open Sans"/>
                <a:cs typeface="Open Sans"/>
                <a:sym typeface="Open Sans"/>
              </a:rPr>
              <a:t>Components are atomic and reusable — each handles a single responsibility, enabling rapid iteration and consistent UI.</a:t>
            </a:r>
          </a:p>
        </p:txBody>
      </p:sp>
      <p:grpSp>
        <p:nvGrpSpPr>
          <p:cNvPr name="Group 20" id="20"/>
          <p:cNvGrpSpPr/>
          <p:nvPr/>
        </p:nvGrpSpPr>
        <p:grpSpPr>
          <a:xfrm rot="0">
            <a:off x="992238" y="7326211"/>
            <a:ext cx="16303523" cy="2081060"/>
            <a:chOff x="0" y="0"/>
            <a:chExt cx="21738031" cy="2774747"/>
          </a:xfrm>
        </p:grpSpPr>
        <p:sp>
          <p:nvSpPr>
            <p:cNvPr name="Freeform 21" id="21"/>
            <p:cNvSpPr/>
            <p:nvPr/>
          </p:nvSpPr>
          <p:spPr>
            <a:xfrm flipH="false" flipV="false" rot="0">
              <a:off x="0" y="0"/>
              <a:ext cx="21738081" cy="2774823"/>
            </a:xfrm>
            <a:custGeom>
              <a:avLst/>
              <a:gdLst/>
              <a:ahLst/>
              <a:cxnLst/>
              <a:rect r="r" b="b" t="t" l="l"/>
              <a:pathLst>
                <a:path h="2774823" w="21738081">
                  <a:moveTo>
                    <a:pt x="0" y="50546"/>
                  </a:moveTo>
                  <a:cubicBezTo>
                    <a:pt x="0" y="22606"/>
                    <a:pt x="22606" y="0"/>
                    <a:pt x="50546" y="0"/>
                  </a:cubicBezTo>
                  <a:lnTo>
                    <a:pt x="21687535" y="0"/>
                  </a:lnTo>
                  <a:cubicBezTo>
                    <a:pt x="21715476" y="0"/>
                    <a:pt x="21738081" y="22606"/>
                    <a:pt x="21738081" y="50546"/>
                  </a:cubicBezTo>
                  <a:lnTo>
                    <a:pt x="21738081" y="2724277"/>
                  </a:lnTo>
                  <a:cubicBezTo>
                    <a:pt x="21738081" y="2752217"/>
                    <a:pt x="21715476" y="2774823"/>
                    <a:pt x="21687535" y="2774823"/>
                  </a:cubicBezTo>
                  <a:lnTo>
                    <a:pt x="50546" y="2774823"/>
                  </a:lnTo>
                  <a:cubicBezTo>
                    <a:pt x="22606" y="2774823"/>
                    <a:pt x="0" y="2752217"/>
                    <a:pt x="0" y="2724277"/>
                  </a:cubicBezTo>
                  <a:close/>
                </a:path>
              </a:pathLst>
            </a:custGeom>
            <a:solidFill>
              <a:srgbClr val="D7D6F5"/>
            </a:solidFill>
          </p:spPr>
        </p:sp>
      </p:grpSp>
      <p:grpSp>
        <p:nvGrpSpPr>
          <p:cNvPr name="Group 22" id="22"/>
          <p:cNvGrpSpPr/>
          <p:nvPr/>
        </p:nvGrpSpPr>
        <p:grpSpPr>
          <a:xfrm rot="0">
            <a:off x="1244651" y="7678045"/>
            <a:ext cx="315516" cy="252412"/>
            <a:chOff x="0" y="0"/>
            <a:chExt cx="420688" cy="336550"/>
          </a:xfrm>
        </p:grpSpPr>
        <p:sp>
          <p:nvSpPr>
            <p:cNvPr name="Freeform 23" id="23" descr="preencoded.png"/>
            <p:cNvSpPr/>
            <p:nvPr/>
          </p:nvSpPr>
          <p:spPr>
            <a:xfrm flipH="false" flipV="false" rot="0">
              <a:off x="0" y="0"/>
              <a:ext cx="420751" cy="336550"/>
            </a:xfrm>
            <a:custGeom>
              <a:avLst/>
              <a:gdLst/>
              <a:ahLst/>
              <a:cxnLst/>
              <a:rect r="r" b="b" t="t" l="l"/>
              <a:pathLst>
                <a:path h="336550" w="420751">
                  <a:moveTo>
                    <a:pt x="0" y="0"/>
                  </a:moveTo>
                  <a:lnTo>
                    <a:pt x="420751" y="0"/>
                  </a:lnTo>
                  <a:lnTo>
                    <a:pt x="420751" y="336550"/>
                  </a:lnTo>
                  <a:lnTo>
                    <a:pt x="0" y="336550"/>
                  </a:lnTo>
                  <a:lnTo>
                    <a:pt x="0" y="0"/>
                  </a:lnTo>
                  <a:close/>
                </a:path>
              </a:pathLst>
            </a:custGeom>
            <a:blipFill>
              <a:blip r:embed="rId3"/>
              <a:stretch>
                <a:fillRect l="-371" t="0" r="-353" b="0"/>
              </a:stretch>
            </a:blipFill>
          </p:spPr>
        </p:sp>
      </p:grpSp>
      <p:sp>
        <p:nvSpPr>
          <p:cNvPr name="TextBox 24" id="24"/>
          <p:cNvSpPr txBox="true"/>
          <p:nvPr/>
        </p:nvSpPr>
        <p:spPr>
          <a:xfrm rot="0">
            <a:off x="1812579" y="7557049"/>
            <a:ext cx="15230770" cy="1584722"/>
          </a:xfrm>
          <a:prstGeom prst="rect">
            <a:avLst/>
          </a:prstGeom>
        </p:spPr>
        <p:txBody>
          <a:bodyPr anchor="t" rtlCol="false" tIns="0" lIns="0" bIns="0" rIns="0">
            <a:spAutoFit/>
          </a:bodyPr>
          <a:lstStyle/>
          <a:p>
            <a:pPr algn="l">
              <a:lnSpc>
                <a:spcPts val="2872"/>
              </a:lnSpc>
            </a:pPr>
            <a:r>
              <a:rPr lang="en-US" sz="1900" b="true">
                <a:solidFill>
                  <a:srgbClr val="000000"/>
                </a:solidFill>
                <a:latin typeface="Open Sans Bold"/>
                <a:ea typeface="Open Sans Bold"/>
                <a:cs typeface="Open Sans Bold"/>
                <a:sym typeface="Open Sans Bold"/>
              </a:rPr>
              <a:t>Speaker Notes:</a:t>
            </a:r>
            <a:r>
              <a:rPr lang="en-US" sz="1900">
                <a:solidFill>
                  <a:srgbClr val="000000"/>
                </a:solidFill>
                <a:latin typeface="Open Sans"/>
                <a:ea typeface="Open Sans"/>
                <a:cs typeface="Open Sans"/>
                <a:sym typeface="Open Sans"/>
              </a:rPr>
              <a:t> The folder structure follows a feature-based organization. Components are split into reusable UI elements (ProductCard, Loader) and feature-specific pieces (CartItem, OrderSummary). Pages map directly to routes. Redux logic is isolated in its own folder with store, slices, and reducers. Services contain all Axios API calls, keeping HTTP logic out of components. The admin folder houses the entire admin module separately. This structure makes the codebase easy to navigate and scale.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70182"/>
            <a:ext cx="16303523" cy="452437"/>
          </a:xfrm>
          <a:prstGeom prst="rect">
            <a:avLst/>
          </a:prstGeom>
        </p:spPr>
        <p:txBody>
          <a:bodyPr anchor="t" rtlCol="false" tIns="0" lIns="0" bIns="0" rIns="0">
            <a:spAutoFit/>
          </a:bodyPr>
          <a:lstStyle/>
          <a:p>
            <a:pPr algn="l">
              <a:lnSpc>
                <a:spcPts val="3369"/>
              </a:lnSpc>
            </a:pPr>
            <a:r>
              <a:rPr lang="en-US" sz="2700">
                <a:solidFill>
                  <a:srgbClr val="403CCF"/>
                </a:solidFill>
                <a:latin typeface="Libre Baskerville"/>
                <a:ea typeface="Libre Baskerville"/>
                <a:cs typeface="Libre Baskerville"/>
                <a:sym typeface="Libre Baskerville"/>
              </a:rPr>
              <a:t>Routing &amp; Redux State Management</a:t>
            </a:r>
          </a:p>
        </p:txBody>
      </p:sp>
      <p:sp>
        <p:nvSpPr>
          <p:cNvPr name="TextBox 7" id="7"/>
          <p:cNvSpPr txBox="true"/>
          <p:nvPr/>
        </p:nvSpPr>
        <p:spPr>
          <a:xfrm rot="0">
            <a:off x="992238" y="1390202"/>
            <a:ext cx="7978826" cy="230981"/>
          </a:xfrm>
          <a:prstGeom prst="rect">
            <a:avLst/>
          </a:prstGeom>
        </p:spPr>
        <p:txBody>
          <a:bodyPr anchor="t" rtlCol="false" tIns="0" lIns="0" bIns="0" rIns="0">
            <a:spAutoFit/>
          </a:bodyPr>
          <a:lstStyle/>
          <a:p>
            <a:pPr algn="l">
              <a:lnSpc>
                <a:spcPts val="1622"/>
              </a:lnSpc>
            </a:pPr>
            <a:r>
              <a:rPr lang="en-US" sz="1300">
                <a:solidFill>
                  <a:srgbClr val="403CCF"/>
                </a:solidFill>
                <a:latin typeface="Libre Baskerville"/>
                <a:ea typeface="Libre Baskerville"/>
                <a:cs typeface="Libre Baskerville"/>
                <a:sym typeface="Libre Baskerville"/>
              </a:rPr>
              <a:t>React Router Flow</a:t>
            </a:r>
          </a:p>
        </p:txBody>
      </p:sp>
      <p:grpSp>
        <p:nvGrpSpPr>
          <p:cNvPr name="Group 8" id="8"/>
          <p:cNvGrpSpPr/>
          <p:nvPr/>
        </p:nvGrpSpPr>
        <p:grpSpPr>
          <a:xfrm rot="0">
            <a:off x="992238" y="1700813"/>
            <a:ext cx="6298846" cy="6298846"/>
            <a:chOff x="0" y="0"/>
            <a:chExt cx="10638434" cy="10638434"/>
          </a:xfrm>
        </p:grpSpPr>
        <p:sp>
          <p:nvSpPr>
            <p:cNvPr name="Freeform 9" id="9" descr="preencoded.png"/>
            <p:cNvSpPr/>
            <p:nvPr/>
          </p:nvSpPr>
          <p:spPr>
            <a:xfrm flipH="false" flipV="false" rot="0">
              <a:off x="0" y="0"/>
              <a:ext cx="10638409" cy="10638409"/>
            </a:xfrm>
            <a:custGeom>
              <a:avLst/>
              <a:gdLst/>
              <a:ahLst/>
              <a:cxnLst/>
              <a:rect r="r" b="b" t="t" l="l"/>
              <a:pathLst>
                <a:path h="10638409" w="10638409">
                  <a:moveTo>
                    <a:pt x="0" y="0"/>
                  </a:moveTo>
                  <a:lnTo>
                    <a:pt x="10638409" y="0"/>
                  </a:lnTo>
                  <a:lnTo>
                    <a:pt x="10638409" y="10638409"/>
                  </a:lnTo>
                  <a:lnTo>
                    <a:pt x="0" y="10638409"/>
                  </a:lnTo>
                  <a:lnTo>
                    <a:pt x="0" y="0"/>
                  </a:lnTo>
                  <a:close/>
                </a:path>
              </a:pathLst>
            </a:custGeom>
            <a:blipFill>
              <a:blip r:embed="rId3"/>
              <a:stretch>
                <a:fillRect l="0" t="0" r="0" b="0"/>
              </a:stretch>
            </a:blipFill>
          </p:spPr>
        </p:sp>
      </p:grpSp>
      <p:sp>
        <p:nvSpPr>
          <p:cNvPr name="TextBox 10" id="10"/>
          <p:cNvSpPr txBox="true"/>
          <p:nvPr/>
        </p:nvSpPr>
        <p:spPr>
          <a:xfrm rot="0">
            <a:off x="9326461" y="1390202"/>
            <a:ext cx="7978826" cy="230981"/>
          </a:xfrm>
          <a:prstGeom prst="rect">
            <a:avLst/>
          </a:prstGeom>
        </p:spPr>
        <p:txBody>
          <a:bodyPr anchor="t" rtlCol="false" tIns="0" lIns="0" bIns="0" rIns="0">
            <a:spAutoFit/>
          </a:bodyPr>
          <a:lstStyle/>
          <a:p>
            <a:pPr algn="l">
              <a:lnSpc>
                <a:spcPts val="1622"/>
              </a:lnSpc>
            </a:pPr>
            <a:r>
              <a:rPr lang="en-US" sz="1300">
                <a:solidFill>
                  <a:srgbClr val="403CCF"/>
                </a:solidFill>
                <a:latin typeface="Libre Baskerville"/>
                <a:ea typeface="Libre Baskerville"/>
                <a:cs typeface="Libre Baskerville"/>
                <a:sym typeface="Libre Baskerville"/>
              </a:rPr>
              <a:t>Redux Toolkit Flow</a:t>
            </a:r>
          </a:p>
        </p:txBody>
      </p:sp>
      <p:grpSp>
        <p:nvGrpSpPr>
          <p:cNvPr name="Group 11" id="11"/>
          <p:cNvGrpSpPr/>
          <p:nvPr/>
        </p:nvGrpSpPr>
        <p:grpSpPr>
          <a:xfrm rot="0">
            <a:off x="9326461" y="1700813"/>
            <a:ext cx="6298846" cy="6298846"/>
            <a:chOff x="0" y="0"/>
            <a:chExt cx="10638434" cy="10638434"/>
          </a:xfrm>
        </p:grpSpPr>
        <p:sp>
          <p:nvSpPr>
            <p:cNvPr name="Freeform 12" id="12" descr="preencoded.png"/>
            <p:cNvSpPr/>
            <p:nvPr/>
          </p:nvSpPr>
          <p:spPr>
            <a:xfrm flipH="false" flipV="false" rot="0">
              <a:off x="0" y="0"/>
              <a:ext cx="10638409" cy="10638409"/>
            </a:xfrm>
            <a:custGeom>
              <a:avLst/>
              <a:gdLst/>
              <a:ahLst/>
              <a:cxnLst/>
              <a:rect r="r" b="b" t="t" l="l"/>
              <a:pathLst>
                <a:path h="10638409" w="10638409">
                  <a:moveTo>
                    <a:pt x="0" y="0"/>
                  </a:moveTo>
                  <a:lnTo>
                    <a:pt x="10638409" y="0"/>
                  </a:lnTo>
                  <a:lnTo>
                    <a:pt x="10638409" y="10638409"/>
                  </a:lnTo>
                  <a:lnTo>
                    <a:pt x="0" y="10638409"/>
                  </a:lnTo>
                  <a:lnTo>
                    <a:pt x="0" y="0"/>
                  </a:lnTo>
                  <a:close/>
                </a:path>
              </a:pathLst>
            </a:custGeom>
            <a:blipFill>
              <a:blip r:embed="rId4"/>
              <a:stretch>
                <a:fillRect l="0" t="0" r="0" b="0"/>
              </a:stretch>
            </a:blipFill>
          </p:spPr>
        </p:sp>
      </p:grpSp>
      <p:sp>
        <p:nvSpPr>
          <p:cNvPr name="TextBox 13" id="13"/>
          <p:cNvSpPr txBox="true"/>
          <p:nvPr/>
        </p:nvSpPr>
        <p:spPr>
          <a:xfrm rot="0">
            <a:off x="992238" y="8075859"/>
            <a:ext cx="11438732" cy="161925"/>
          </a:xfrm>
          <a:prstGeom prst="rect">
            <a:avLst/>
          </a:prstGeom>
        </p:spPr>
        <p:txBody>
          <a:bodyPr anchor="t" rtlCol="false" tIns="0" lIns="0" bIns="0" rIns="0">
            <a:spAutoFit/>
          </a:bodyPr>
          <a:lstStyle/>
          <a:p>
            <a:pPr algn="l">
              <a:lnSpc>
                <a:spcPts val="1320"/>
              </a:lnSpc>
            </a:pPr>
            <a:r>
              <a:rPr lang="en-US" sz="1100">
                <a:solidFill>
                  <a:srgbClr val="49495A"/>
                </a:solidFill>
                <a:latin typeface="Open Sans"/>
                <a:ea typeface="Open Sans"/>
                <a:cs typeface="Open Sans"/>
                <a:sym typeface="Open Sans"/>
              </a:rPr>
              <a:t>Protected routes guard checkout and admin pages. Redux eliminates prop-drilling — any component accesses global state via useSelector and triggers changes via useDispatch.</a:t>
            </a:r>
          </a:p>
        </p:txBody>
      </p:sp>
      <p:grpSp>
        <p:nvGrpSpPr>
          <p:cNvPr name="Group 14" id="14"/>
          <p:cNvGrpSpPr/>
          <p:nvPr/>
        </p:nvGrpSpPr>
        <p:grpSpPr>
          <a:xfrm rot="0">
            <a:off x="955777" y="8542582"/>
            <a:ext cx="16303523" cy="715718"/>
            <a:chOff x="0" y="0"/>
            <a:chExt cx="21738031" cy="954291"/>
          </a:xfrm>
        </p:grpSpPr>
        <p:sp>
          <p:nvSpPr>
            <p:cNvPr name="Freeform 15" id="15"/>
            <p:cNvSpPr/>
            <p:nvPr/>
          </p:nvSpPr>
          <p:spPr>
            <a:xfrm flipH="false" flipV="false" rot="0">
              <a:off x="0" y="0"/>
              <a:ext cx="21737955" cy="954278"/>
            </a:xfrm>
            <a:custGeom>
              <a:avLst/>
              <a:gdLst/>
              <a:ahLst/>
              <a:cxnLst/>
              <a:rect r="r" b="b" t="t" l="l"/>
              <a:pathLst>
                <a:path h="954278" w="21737955">
                  <a:moveTo>
                    <a:pt x="0" y="28321"/>
                  </a:moveTo>
                  <a:cubicBezTo>
                    <a:pt x="0" y="12700"/>
                    <a:pt x="12700" y="0"/>
                    <a:pt x="28321" y="0"/>
                  </a:cubicBezTo>
                  <a:lnTo>
                    <a:pt x="21709635" y="0"/>
                  </a:lnTo>
                  <a:cubicBezTo>
                    <a:pt x="21725255" y="0"/>
                    <a:pt x="21737955" y="12700"/>
                    <a:pt x="21737955" y="28321"/>
                  </a:cubicBezTo>
                  <a:lnTo>
                    <a:pt x="21737955" y="925957"/>
                  </a:lnTo>
                  <a:cubicBezTo>
                    <a:pt x="21737955" y="941578"/>
                    <a:pt x="21725255" y="954278"/>
                    <a:pt x="21709635" y="954278"/>
                  </a:cubicBezTo>
                  <a:lnTo>
                    <a:pt x="28321" y="954278"/>
                  </a:lnTo>
                  <a:cubicBezTo>
                    <a:pt x="12700" y="954278"/>
                    <a:pt x="0" y="941578"/>
                    <a:pt x="0" y="925957"/>
                  </a:cubicBezTo>
                  <a:close/>
                </a:path>
              </a:pathLst>
            </a:custGeom>
            <a:solidFill>
              <a:srgbClr val="D7D6F5"/>
            </a:solidFill>
          </p:spPr>
        </p:sp>
      </p:grpSp>
      <p:grpSp>
        <p:nvGrpSpPr>
          <p:cNvPr name="Group 16" id="16"/>
          <p:cNvGrpSpPr/>
          <p:nvPr/>
        </p:nvGrpSpPr>
        <p:grpSpPr>
          <a:xfrm rot="0">
            <a:off x="1133923" y="10265721"/>
            <a:ext cx="177108" cy="141684"/>
            <a:chOff x="0" y="0"/>
            <a:chExt cx="236144" cy="188912"/>
          </a:xfrm>
        </p:grpSpPr>
        <p:sp>
          <p:nvSpPr>
            <p:cNvPr name="Freeform 17" id="17" descr="preencoded.png"/>
            <p:cNvSpPr/>
            <p:nvPr/>
          </p:nvSpPr>
          <p:spPr>
            <a:xfrm flipH="false" flipV="false" rot="0">
              <a:off x="0" y="0"/>
              <a:ext cx="236093" cy="188849"/>
            </a:xfrm>
            <a:custGeom>
              <a:avLst/>
              <a:gdLst/>
              <a:ahLst/>
              <a:cxnLst/>
              <a:rect r="r" b="b" t="t" l="l"/>
              <a:pathLst>
                <a:path h="188849" w="236093">
                  <a:moveTo>
                    <a:pt x="0" y="0"/>
                  </a:moveTo>
                  <a:lnTo>
                    <a:pt x="236093" y="0"/>
                  </a:lnTo>
                  <a:lnTo>
                    <a:pt x="236093" y="188849"/>
                  </a:lnTo>
                  <a:lnTo>
                    <a:pt x="0" y="188849"/>
                  </a:lnTo>
                  <a:lnTo>
                    <a:pt x="0" y="0"/>
                  </a:lnTo>
                  <a:close/>
                </a:path>
              </a:pathLst>
            </a:custGeom>
            <a:blipFill>
              <a:blip r:embed="rId5"/>
              <a:stretch>
                <a:fillRect l="-667" t="0" r="-688" b="-33"/>
              </a:stretch>
            </a:blipFill>
          </p:spPr>
        </p:sp>
      </p:grpSp>
      <p:sp>
        <p:nvSpPr>
          <p:cNvPr name="TextBox 18" id="18"/>
          <p:cNvSpPr txBox="true"/>
          <p:nvPr/>
        </p:nvSpPr>
        <p:spPr>
          <a:xfrm rot="0">
            <a:off x="1028700" y="8645276"/>
            <a:ext cx="15701372" cy="510330"/>
          </a:xfrm>
          <a:prstGeom prst="rect">
            <a:avLst/>
          </a:prstGeom>
        </p:spPr>
        <p:txBody>
          <a:bodyPr anchor="t" rtlCol="false" tIns="0" lIns="0" bIns="0" rIns="0">
            <a:spAutoFit/>
          </a:bodyPr>
          <a:lstStyle/>
          <a:p>
            <a:pPr algn="l">
              <a:lnSpc>
                <a:spcPts val="1320"/>
              </a:lnSpc>
            </a:pPr>
            <a:r>
              <a:rPr lang="en-US" sz="1100" b="true">
                <a:solidFill>
                  <a:srgbClr val="000000"/>
                </a:solidFill>
                <a:latin typeface="Open Sans Bold"/>
                <a:ea typeface="Open Sans Bold"/>
                <a:cs typeface="Open Sans Bold"/>
                <a:sym typeface="Open Sans Bold"/>
              </a:rPr>
              <a:t>Speaker Notes:</a:t>
            </a:r>
            <a:r>
              <a:rPr lang="en-US" sz="1100">
                <a:solidFill>
                  <a:srgbClr val="000000"/>
                </a:solidFill>
                <a:latin typeface="Open Sans"/>
                <a:ea typeface="Open Sans"/>
                <a:cs typeface="Open Sans"/>
                <a:sym typeface="Open Sans"/>
              </a:rPr>
              <a:t> React Router DOM manages all navigation with protected routes — unauthenticated users are redirected to login when accessing checkout or admin pages. For Redux, I created separate slices for products, cart, wishlist, and auth. Each slice has its own reducer and async thunks. Components subscribe to state with useSelector and dispatch actions with useDispatch. This eliminates prop-drilling entirely and makes state changes traceable through Redux DevTools.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70182"/>
            <a:ext cx="16303523" cy="452437"/>
          </a:xfrm>
          <a:prstGeom prst="rect">
            <a:avLst/>
          </a:prstGeom>
        </p:spPr>
        <p:txBody>
          <a:bodyPr anchor="t" rtlCol="false" tIns="0" lIns="0" bIns="0" rIns="0">
            <a:spAutoFit/>
          </a:bodyPr>
          <a:lstStyle/>
          <a:p>
            <a:pPr algn="l">
              <a:lnSpc>
                <a:spcPts val="3369"/>
              </a:lnSpc>
            </a:pPr>
            <a:r>
              <a:rPr lang="en-US" sz="2700">
                <a:solidFill>
                  <a:srgbClr val="403CCF"/>
                </a:solidFill>
                <a:latin typeface="Libre Baskerville"/>
                <a:ea typeface="Libre Baskerville"/>
                <a:cs typeface="Libre Baskerville"/>
                <a:sym typeface="Libre Baskerville"/>
              </a:rPr>
              <a:t>Core Logic Flows</a:t>
            </a:r>
          </a:p>
        </p:txBody>
      </p:sp>
      <p:sp>
        <p:nvSpPr>
          <p:cNvPr name="TextBox 7" id="7"/>
          <p:cNvSpPr txBox="true"/>
          <p:nvPr/>
        </p:nvSpPr>
        <p:spPr>
          <a:xfrm rot="0">
            <a:off x="992238" y="1390202"/>
            <a:ext cx="7978826" cy="230981"/>
          </a:xfrm>
          <a:prstGeom prst="rect">
            <a:avLst/>
          </a:prstGeom>
        </p:spPr>
        <p:txBody>
          <a:bodyPr anchor="t" rtlCol="false" tIns="0" lIns="0" bIns="0" rIns="0">
            <a:spAutoFit/>
          </a:bodyPr>
          <a:lstStyle/>
          <a:p>
            <a:pPr algn="l">
              <a:lnSpc>
                <a:spcPts val="1622"/>
              </a:lnSpc>
            </a:pPr>
            <a:r>
              <a:rPr lang="en-US" sz="1300">
                <a:solidFill>
                  <a:srgbClr val="403CCF"/>
                </a:solidFill>
                <a:latin typeface="Libre Baskerville"/>
                <a:ea typeface="Libre Baskerville"/>
                <a:cs typeface="Libre Baskerville"/>
                <a:sym typeface="Libre Baskerville"/>
              </a:rPr>
              <a:t>Authentication Flow</a:t>
            </a:r>
          </a:p>
        </p:txBody>
      </p:sp>
      <p:grpSp>
        <p:nvGrpSpPr>
          <p:cNvPr name="Group 8" id="8"/>
          <p:cNvGrpSpPr/>
          <p:nvPr/>
        </p:nvGrpSpPr>
        <p:grpSpPr>
          <a:xfrm rot="0">
            <a:off x="992238" y="1700813"/>
            <a:ext cx="6540487" cy="6540487"/>
            <a:chOff x="0" y="0"/>
            <a:chExt cx="10638434" cy="10638434"/>
          </a:xfrm>
        </p:grpSpPr>
        <p:sp>
          <p:nvSpPr>
            <p:cNvPr name="Freeform 9" id="9" descr="preencoded.png"/>
            <p:cNvSpPr/>
            <p:nvPr/>
          </p:nvSpPr>
          <p:spPr>
            <a:xfrm flipH="false" flipV="false" rot="0">
              <a:off x="0" y="0"/>
              <a:ext cx="10638409" cy="10638409"/>
            </a:xfrm>
            <a:custGeom>
              <a:avLst/>
              <a:gdLst/>
              <a:ahLst/>
              <a:cxnLst/>
              <a:rect r="r" b="b" t="t" l="l"/>
              <a:pathLst>
                <a:path h="10638409" w="10638409">
                  <a:moveTo>
                    <a:pt x="0" y="0"/>
                  </a:moveTo>
                  <a:lnTo>
                    <a:pt x="10638409" y="0"/>
                  </a:lnTo>
                  <a:lnTo>
                    <a:pt x="10638409" y="10638409"/>
                  </a:lnTo>
                  <a:lnTo>
                    <a:pt x="0" y="10638409"/>
                  </a:lnTo>
                  <a:lnTo>
                    <a:pt x="0" y="0"/>
                  </a:lnTo>
                  <a:close/>
                </a:path>
              </a:pathLst>
            </a:custGeom>
            <a:blipFill>
              <a:blip r:embed="rId3"/>
              <a:stretch>
                <a:fillRect l="0" t="0" r="0" b="0"/>
              </a:stretch>
            </a:blipFill>
          </p:spPr>
        </p:sp>
      </p:grpSp>
      <p:sp>
        <p:nvSpPr>
          <p:cNvPr name="TextBox 10" id="10"/>
          <p:cNvSpPr txBox="true"/>
          <p:nvPr/>
        </p:nvSpPr>
        <p:spPr>
          <a:xfrm rot="0">
            <a:off x="9326461" y="1390202"/>
            <a:ext cx="7978826" cy="230981"/>
          </a:xfrm>
          <a:prstGeom prst="rect">
            <a:avLst/>
          </a:prstGeom>
        </p:spPr>
        <p:txBody>
          <a:bodyPr anchor="t" rtlCol="false" tIns="0" lIns="0" bIns="0" rIns="0">
            <a:spAutoFit/>
          </a:bodyPr>
          <a:lstStyle/>
          <a:p>
            <a:pPr algn="l">
              <a:lnSpc>
                <a:spcPts val="1622"/>
              </a:lnSpc>
            </a:pPr>
            <a:r>
              <a:rPr lang="en-US" sz="1300">
                <a:solidFill>
                  <a:srgbClr val="403CCF"/>
                </a:solidFill>
                <a:latin typeface="Libre Baskerville"/>
                <a:ea typeface="Libre Baskerville"/>
                <a:cs typeface="Libre Baskerville"/>
                <a:sym typeface="Libre Baskerville"/>
              </a:rPr>
              <a:t>Cart &amp; API Integration</a:t>
            </a:r>
          </a:p>
        </p:txBody>
      </p:sp>
      <p:grpSp>
        <p:nvGrpSpPr>
          <p:cNvPr name="Group 11" id="11"/>
          <p:cNvGrpSpPr/>
          <p:nvPr/>
        </p:nvGrpSpPr>
        <p:grpSpPr>
          <a:xfrm rot="0">
            <a:off x="9326461" y="1700813"/>
            <a:ext cx="6413913" cy="6413913"/>
            <a:chOff x="0" y="0"/>
            <a:chExt cx="10638434" cy="10638434"/>
          </a:xfrm>
        </p:grpSpPr>
        <p:sp>
          <p:nvSpPr>
            <p:cNvPr name="Freeform 12" id="12" descr="preencoded.png"/>
            <p:cNvSpPr/>
            <p:nvPr/>
          </p:nvSpPr>
          <p:spPr>
            <a:xfrm flipH="false" flipV="false" rot="0">
              <a:off x="0" y="0"/>
              <a:ext cx="10638409" cy="10638409"/>
            </a:xfrm>
            <a:custGeom>
              <a:avLst/>
              <a:gdLst/>
              <a:ahLst/>
              <a:cxnLst/>
              <a:rect r="r" b="b" t="t" l="l"/>
              <a:pathLst>
                <a:path h="10638409" w="10638409">
                  <a:moveTo>
                    <a:pt x="0" y="0"/>
                  </a:moveTo>
                  <a:lnTo>
                    <a:pt x="10638409" y="0"/>
                  </a:lnTo>
                  <a:lnTo>
                    <a:pt x="10638409" y="10638409"/>
                  </a:lnTo>
                  <a:lnTo>
                    <a:pt x="0" y="10638409"/>
                  </a:lnTo>
                  <a:lnTo>
                    <a:pt x="0" y="0"/>
                  </a:lnTo>
                  <a:close/>
                </a:path>
              </a:pathLst>
            </a:custGeom>
            <a:blipFill>
              <a:blip r:embed="rId4"/>
              <a:stretch>
                <a:fillRect l="0" t="0" r="0" b="0"/>
              </a:stretch>
            </a:blipFill>
          </p:spPr>
        </p:sp>
      </p:grpSp>
      <p:sp>
        <p:nvSpPr>
          <p:cNvPr name="TextBox 13" id="13"/>
          <p:cNvSpPr txBox="true"/>
          <p:nvPr/>
        </p:nvSpPr>
        <p:spPr>
          <a:xfrm rot="0">
            <a:off x="535038" y="7238361"/>
            <a:ext cx="17217923" cy="170107"/>
          </a:xfrm>
          <a:prstGeom prst="rect">
            <a:avLst/>
          </a:prstGeom>
        </p:spPr>
        <p:txBody>
          <a:bodyPr anchor="t" rtlCol="false" tIns="0" lIns="0" bIns="0" rIns="0">
            <a:spAutoFit/>
          </a:bodyPr>
          <a:lstStyle/>
          <a:p>
            <a:pPr algn="l">
              <a:lnSpc>
                <a:spcPts val="1320"/>
              </a:lnSpc>
            </a:pPr>
            <a:r>
              <a:rPr lang="en-US" sz="1100">
                <a:solidFill>
                  <a:srgbClr val="49495A"/>
                </a:solidFill>
                <a:latin typeface="Open Sans"/>
                <a:ea typeface="Open Sans"/>
                <a:cs typeface="Open Sans"/>
                <a:sym typeface="Open Sans"/>
              </a:rPr>
              <a:t>Cart items persist in LocalStorage and sync with Redux on load. Axios handles all REST calls — GET for products, POST for orders, PUT for updates, and DELETE for removals.</a:t>
            </a:r>
          </a:p>
        </p:txBody>
      </p:sp>
      <p:grpSp>
        <p:nvGrpSpPr>
          <p:cNvPr name="Group 14" id="14"/>
          <p:cNvGrpSpPr/>
          <p:nvPr/>
        </p:nvGrpSpPr>
        <p:grpSpPr>
          <a:xfrm rot="0">
            <a:off x="535038" y="7756867"/>
            <a:ext cx="16303523" cy="715718"/>
            <a:chOff x="0" y="0"/>
            <a:chExt cx="21738031" cy="954291"/>
          </a:xfrm>
        </p:grpSpPr>
        <p:sp>
          <p:nvSpPr>
            <p:cNvPr name="Freeform 15" id="15"/>
            <p:cNvSpPr/>
            <p:nvPr/>
          </p:nvSpPr>
          <p:spPr>
            <a:xfrm flipH="false" flipV="false" rot="0">
              <a:off x="0" y="0"/>
              <a:ext cx="21737955" cy="954278"/>
            </a:xfrm>
            <a:custGeom>
              <a:avLst/>
              <a:gdLst/>
              <a:ahLst/>
              <a:cxnLst/>
              <a:rect r="r" b="b" t="t" l="l"/>
              <a:pathLst>
                <a:path h="954278" w="21737955">
                  <a:moveTo>
                    <a:pt x="0" y="28321"/>
                  </a:moveTo>
                  <a:cubicBezTo>
                    <a:pt x="0" y="12700"/>
                    <a:pt x="12700" y="0"/>
                    <a:pt x="28321" y="0"/>
                  </a:cubicBezTo>
                  <a:lnTo>
                    <a:pt x="21709635" y="0"/>
                  </a:lnTo>
                  <a:cubicBezTo>
                    <a:pt x="21725255" y="0"/>
                    <a:pt x="21737955" y="12700"/>
                    <a:pt x="21737955" y="28321"/>
                  </a:cubicBezTo>
                  <a:lnTo>
                    <a:pt x="21737955" y="925957"/>
                  </a:lnTo>
                  <a:cubicBezTo>
                    <a:pt x="21737955" y="941578"/>
                    <a:pt x="21725255" y="954278"/>
                    <a:pt x="21709635" y="954278"/>
                  </a:cubicBezTo>
                  <a:lnTo>
                    <a:pt x="28321" y="954278"/>
                  </a:lnTo>
                  <a:cubicBezTo>
                    <a:pt x="12700" y="954278"/>
                    <a:pt x="0" y="941578"/>
                    <a:pt x="0" y="925957"/>
                  </a:cubicBezTo>
                  <a:close/>
                </a:path>
              </a:pathLst>
            </a:custGeom>
            <a:solidFill>
              <a:srgbClr val="D7D6F5"/>
            </a:solidFill>
          </p:spPr>
        </p:sp>
      </p:grpSp>
      <p:grpSp>
        <p:nvGrpSpPr>
          <p:cNvPr name="Group 16" id="16"/>
          <p:cNvGrpSpPr/>
          <p:nvPr/>
        </p:nvGrpSpPr>
        <p:grpSpPr>
          <a:xfrm rot="0">
            <a:off x="1133923" y="10265721"/>
            <a:ext cx="177108" cy="141684"/>
            <a:chOff x="0" y="0"/>
            <a:chExt cx="236144" cy="188912"/>
          </a:xfrm>
        </p:grpSpPr>
        <p:sp>
          <p:nvSpPr>
            <p:cNvPr name="Freeform 17" id="17" descr="preencoded.png"/>
            <p:cNvSpPr/>
            <p:nvPr/>
          </p:nvSpPr>
          <p:spPr>
            <a:xfrm flipH="false" flipV="false" rot="0">
              <a:off x="0" y="0"/>
              <a:ext cx="236093" cy="188849"/>
            </a:xfrm>
            <a:custGeom>
              <a:avLst/>
              <a:gdLst/>
              <a:ahLst/>
              <a:cxnLst/>
              <a:rect r="r" b="b" t="t" l="l"/>
              <a:pathLst>
                <a:path h="188849" w="236093">
                  <a:moveTo>
                    <a:pt x="0" y="0"/>
                  </a:moveTo>
                  <a:lnTo>
                    <a:pt x="236093" y="0"/>
                  </a:lnTo>
                  <a:lnTo>
                    <a:pt x="236093" y="188849"/>
                  </a:lnTo>
                  <a:lnTo>
                    <a:pt x="0" y="188849"/>
                  </a:lnTo>
                  <a:lnTo>
                    <a:pt x="0" y="0"/>
                  </a:lnTo>
                  <a:close/>
                </a:path>
              </a:pathLst>
            </a:custGeom>
            <a:blipFill>
              <a:blip r:embed="rId5"/>
              <a:stretch>
                <a:fillRect l="-667" t="0" r="-688" b="-33"/>
              </a:stretch>
            </a:blipFill>
          </p:spPr>
        </p:sp>
      </p:grpSp>
      <p:sp>
        <p:nvSpPr>
          <p:cNvPr name="TextBox 18" id="18"/>
          <p:cNvSpPr txBox="true"/>
          <p:nvPr/>
        </p:nvSpPr>
        <p:spPr>
          <a:xfrm rot="0">
            <a:off x="693272" y="7859560"/>
            <a:ext cx="15701372" cy="510330"/>
          </a:xfrm>
          <a:prstGeom prst="rect">
            <a:avLst/>
          </a:prstGeom>
        </p:spPr>
        <p:txBody>
          <a:bodyPr anchor="t" rtlCol="false" tIns="0" lIns="0" bIns="0" rIns="0">
            <a:spAutoFit/>
          </a:bodyPr>
          <a:lstStyle/>
          <a:p>
            <a:pPr algn="l">
              <a:lnSpc>
                <a:spcPts val="1320"/>
              </a:lnSpc>
            </a:pPr>
            <a:r>
              <a:rPr lang="en-US" sz="1100" b="true">
                <a:solidFill>
                  <a:srgbClr val="000000"/>
                </a:solidFill>
                <a:latin typeface="Open Sans Bold"/>
                <a:ea typeface="Open Sans Bold"/>
                <a:cs typeface="Open Sans Bold"/>
                <a:sym typeface="Open Sans Bold"/>
              </a:rPr>
              <a:t>Speaker Notes:</a:t>
            </a:r>
            <a:r>
              <a:rPr lang="en-US" sz="1100">
                <a:solidFill>
                  <a:srgbClr val="000000"/>
                </a:solidFill>
                <a:latin typeface="Open Sans"/>
                <a:ea typeface="Open Sans"/>
                <a:cs typeface="Open Sans"/>
                <a:sym typeface="Open Sans"/>
              </a:rPr>
              <a:t> For authentication, on login the credentials are validated, then a user object is stored in LocalStorage. A protected route component checks this token on every navigation — if absent, the user is redirected to login. For the cart, when a user adds a product, I first check if it already exists. If yes, I increment the quantity; if not, I push a new item. Redux updates immediately, and the total recalculates. All API calls use Axios with consistent error handling and loading states.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58133"/>
            <a:ext cx="16303523" cy="873176"/>
          </a:xfrm>
          <a:prstGeom prst="rect">
            <a:avLst/>
          </a:prstGeom>
        </p:spPr>
        <p:txBody>
          <a:bodyPr anchor="t" rtlCol="false" tIns="0" lIns="0" bIns="0" rIns="0">
            <a:spAutoFit/>
          </a:bodyPr>
          <a:lstStyle/>
          <a:p>
            <a:pPr algn="l">
              <a:lnSpc>
                <a:spcPts val="6614"/>
              </a:lnSpc>
            </a:pPr>
            <a:r>
              <a:rPr lang="en-US" sz="5299">
                <a:solidFill>
                  <a:srgbClr val="403CCF"/>
                </a:solidFill>
                <a:latin typeface="Libre Baskerville"/>
                <a:ea typeface="Libre Baskerville"/>
                <a:cs typeface="Libre Baskerville"/>
                <a:sym typeface="Libre Baskerville"/>
              </a:rPr>
              <a:t>Challenges, Optimizations &amp; Security</a:t>
            </a:r>
          </a:p>
        </p:txBody>
      </p:sp>
      <p:sp>
        <p:nvSpPr>
          <p:cNvPr name="Freeform 7" id="7" descr="preencoded.png"/>
          <p:cNvSpPr/>
          <p:nvPr/>
        </p:nvSpPr>
        <p:spPr>
          <a:xfrm flipH="false" flipV="false" rot="0">
            <a:off x="992238" y="2146402"/>
            <a:ext cx="5262858" cy="4328817"/>
          </a:xfrm>
          <a:custGeom>
            <a:avLst/>
            <a:gdLst/>
            <a:ahLst/>
            <a:cxnLst/>
            <a:rect r="r" b="b" t="t" l="l"/>
            <a:pathLst>
              <a:path h="4328817" w="5262858">
                <a:moveTo>
                  <a:pt x="0" y="0"/>
                </a:moveTo>
                <a:lnTo>
                  <a:pt x="5262858" y="0"/>
                </a:lnTo>
                <a:lnTo>
                  <a:pt x="5262858" y="4328817"/>
                </a:lnTo>
                <a:lnTo>
                  <a:pt x="0" y="4328817"/>
                </a:lnTo>
                <a:lnTo>
                  <a:pt x="0" y="0"/>
                </a:lnTo>
                <a:close/>
              </a:path>
            </a:pathLst>
          </a:custGeom>
          <a:blipFill>
            <a:blip r:embed="rId3">
              <a:extLst>
                <a:ext uri="{96DAC541-7B7A-43D3-8B79-37D633B846F1}">
                  <asvg:svgBlip xmlns:asvg="http://schemas.microsoft.com/office/drawing/2016/SVG/main" r:embed="rId4"/>
                </a:ext>
              </a:extLst>
            </a:blip>
            <a:stretch>
              <a:fillRect l="0" t="-16" r="0" b="-15"/>
            </a:stretch>
          </a:blipFill>
        </p:spPr>
      </p:sp>
      <p:sp>
        <p:nvSpPr>
          <p:cNvPr name="TextBox 8" id="8"/>
          <p:cNvSpPr txBox="true"/>
          <p:nvPr/>
        </p:nvSpPr>
        <p:spPr>
          <a:xfrm rot="0">
            <a:off x="1452858" y="2445096"/>
            <a:ext cx="4494009" cy="431749"/>
          </a:xfrm>
          <a:prstGeom prst="rect">
            <a:avLst/>
          </a:prstGeom>
        </p:spPr>
        <p:txBody>
          <a:bodyPr anchor="t" rtlCol="false" tIns="0" lIns="0" bIns="0" rIns="0">
            <a:spAutoFit/>
          </a:bodyPr>
          <a:lstStyle/>
          <a:p>
            <a:pPr algn="l">
              <a:lnSpc>
                <a:spcPts val="3244"/>
              </a:lnSpc>
            </a:pPr>
            <a:r>
              <a:rPr lang="en-US" sz="2600">
                <a:solidFill>
                  <a:srgbClr val="49495A"/>
                </a:solidFill>
                <a:latin typeface="Libre Baskerville"/>
                <a:ea typeface="Libre Baskerville"/>
                <a:cs typeface="Libre Baskerville"/>
                <a:sym typeface="Libre Baskerville"/>
              </a:rPr>
              <a:t>Challenges Faced</a:t>
            </a:r>
          </a:p>
        </p:txBody>
      </p:sp>
      <p:sp>
        <p:nvSpPr>
          <p:cNvPr name="TextBox 9" id="9"/>
          <p:cNvSpPr txBox="true"/>
          <p:nvPr/>
        </p:nvSpPr>
        <p:spPr>
          <a:xfrm rot="0">
            <a:off x="1452858" y="2964656"/>
            <a:ext cx="4494009" cy="2780109"/>
          </a:xfrm>
          <a:prstGeom prst="rect">
            <a:avLst/>
          </a:prstGeom>
        </p:spPr>
        <p:txBody>
          <a:bodyPr anchor="t" rtlCol="false" tIns="0" lIns="0" bIns="0" rIns="0">
            <a:spAutoFit/>
          </a:bodyPr>
          <a:lstStyle/>
          <a:p>
            <a:pPr algn="l" marL="506730" indent="-253365" lvl="1">
              <a:lnSpc>
                <a:spcPts val="3276"/>
              </a:lnSpc>
              <a:buFont typeface="Arial"/>
              <a:buChar char="•"/>
            </a:pPr>
            <a:r>
              <a:rPr lang="en-US" sz="2100">
                <a:solidFill>
                  <a:srgbClr val="49495A"/>
                </a:solidFill>
                <a:latin typeface="Open Sans"/>
                <a:ea typeface="Open Sans"/>
                <a:cs typeface="Open Sans"/>
                <a:sym typeface="Open Sans"/>
              </a:rPr>
              <a:t>Managing complex global state across cart, wishlist, and auth</a:t>
            </a:r>
          </a:p>
          <a:p>
            <a:pPr algn="l" marL="506730" indent="-253365" lvl="1">
              <a:lnSpc>
                <a:spcPts val="3276"/>
              </a:lnSpc>
              <a:buFont typeface="Arial"/>
              <a:buChar char="•"/>
            </a:pPr>
            <a:r>
              <a:rPr lang="en-US" sz="2100">
                <a:solidFill>
                  <a:srgbClr val="49495A"/>
                </a:solidFill>
                <a:latin typeface="Open Sans"/>
                <a:ea typeface="Open Sans"/>
                <a:cs typeface="Open Sans"/>
                <a:sym typeface="Open Sans"/>
              </a:rPr>
              <a:t>Implementing Razorpay test-mode callbacks correctly</a:t>
            </a:r>
          </a:p>
          <a:p>
            <a:pPr algn="l" marL="506730" indent="-253365" lvl="1">
              <a:lnSpc>
                <a:spcPts val="3276"/>
              </a:lnSpc>
              <a:buFont typeface="Arial"/>
              <a:buChar char="•"/>
            </a:pPr>
            <a:r>
              <a:rPr lang="en-US" sz="2100">
                <a:solidFill>
                  <a:srgbClr val="49495A"/>
                </a:solidFill>
                <a:latin typeface="Open Sans"/>
                <a:ea typeface="Open Sans"/>
                <a:cs typeface="Open Sans"/>
                <a:sym typeface="Open Sans"/>
              </a:rPr>
              <a:t>Preventing unnecessary re-renders with memoization</a:t>
            </a:r>
          </a:p>
        </p:txBody>
      </p:sp>
      <p:sp>
        <p:nvSpPr>
          <p:cNvPr name="Freeform 10" id="10" descr="preencoded.png"/>
          <p:cNvSpPr/>
          <p:nvPr/>
        </p:nvSpPr>
        <p:spPr>
          <a:xfrm flipH="false" flipV="false" rot="0">
            <a:off x="6512566" y="2146402"/>
            <a:ext cx="5262858" cy="4328817"/>
          </a:xfrm>
          <a:custGeom>
            <a:avLst/>
            <a:gdLst/>
            <a:ahLst/>
            <a:cxnLst/>
            <a:rect r="r" b="b" t="t" l="l"/>
            <a:pathLst>
              <a:path h="4328817" w="5262858">
                <a:moveTo>
                  <a:pt x="0" y="0"/>
                </a:moveTo>
                <a:lnTo>
                  <a:pt x="5262858" y="0"/>
                </a:lnTo>
                <a:lnTo>
                  <a:pt x="5262858" y="4328817"/>
                </a:lnTo>
                <a:lnTo>
                  <a:pt x="0" y="4328817"/>
                </a:lnTo>
                <a:lnTo>
                  <a:pt x="0" y="0"/>
                </a:lnTo>
                <a:close/>
              </a:path>
            </a:pathLst>
          </a:custGeom>
          <a:blipFill>
            <a:blip r:embed="rId3">
              <a:extLst>
                <a:ext uri="{96DAC541-7B7A-43D3-8B79-37D633B846F1}">
                  <asvg:svgBlip xmlns:asvg="http://schemas.microsoft.com/office/drawing/2016/SVG/main" r:embed="rId4"/>
                </a:ext>
              </a:extLst>
            </a:blip>
            <a:stretch>
              <a:fillRect l="0" t="-16" r="0" b="-15"/>
            </a:stretch>
          </a:blipFill>
        </p:spPr>
      </p:sp>
      <p:sp>
        <p:nvSpPr>
          <p:cNvPr name="TextBox 11" id="11"/>
          <p:cNvSpPr txBox="true"/>
          <p:nvPr/>
        </p:nvSpPr>
        <p:spPr>
          <a:xfrm rot="0">
            <a:off x="6973195" y="2445096"/>
            <a:ext cx="4494009" cy="853973"/>
          </a:xfrm>
          <a:prstGeom prst="rect">
            <a:avLst/>
          </a:prstGeom>
        </p:spPr>
        <p:txBody>
          <a:bodyPr anchor="t" rtlCol="false" tIns="0" lIns="0" bIns="0" rIns="0">
            <a:spAutoFit/>
          </a:bodyPr>
          <a:lstStyle/>
          <a:p>
            <a:pPr algn="l">
              <a:lnSpc>
                <a:spcPts val="3244"/>
              </a:lnSpc>
            </a:pPr>
            <a:r>
              <a:rPr lang="en-US" sz="2600">
                <a:solidFill>
                  <a:srgbClr val="49495A"/>
                </a:solidFill>
                <a:latin typeface="Libre Baskerville"/>
                <a:ea typeface="Libre Baskerville"/>
                <a:cs typeface="Libre Baskerville"/>
                <a:sym typeface="Libre Baskerville"/>
              </a:rPr>
              <a:t>Performance Optimizations</a:t>
            </a:r>
          </a:p>
        </p:txBody>
      </p:sp>
      <p:sp>
        <p:nvSpPr>
          <p:cNvPr name="TextBox 12" id="12"/>
          <p:cNvSpPr txBox="true"/>
          <p:nvPr/>
        </p:nvSpPr>
        <p:spPr>
          <a:xfrm rot="0">
            <a:off x="6973195" y="3386880"/>
            <a:ext cx="4494009" cy="2780109"/>
          </a:xfrm>
          <a:prstGeom prst="rect">
            <a:avLst/>
          </a:prstGeom>
        </p:spPr>
        <p:txBody>
          <a:bodyPr anchor="t" rtlCol="false" tIns="0" lIns="0" bIns="0" rIns="0">
            <a:spAutoFit/>
          </a:bodyPr>
          <a:lstStyle/>
          <a:p>
            <a:pPr algn="l" marL="506730" indent="-253365" lvl="1">
              <a:lnSpc>
                <a:spcPts val="3276"/>
              </a:lnSpc>
              <a:buFont typeface="Arial"/>
              <a:buChar char="•"/>
            </a:pPr>
            <a:r>
              <a:rPr lang="en-US" sz="2100">
                <a:solidFill>
                  <a:srgbClr val="49495A"/>
                </a:solidFill>
                <a:latin typeface="Open Sans"/>
                <a:ea typeface="Open Sans"/>
                <a:cs typeface="Open Sans"/>
                <a:sym typeface="Open Sans"/>
              </a:rPr>
              <a:t>Redux Toolkit's normalized state for efficient updates</a:t>
            </a:r>
          </a:p>
          <a:p>
            <a:pPr algn="l" marL="506730" indent="-253365" lvl="1">
              <a:lnSpc>
                <a:spcPts val="3276"/>
              </a:lnSpc>
              <a:buFont typeface="Arial"/>
              <a:buChar char="•"/>
            </a:pPr>
            <a:r>
              <a:rPr lang="en-US" sz="2100">
                <a:solidFill>
                  <a:srgbClr val="49495A"/>
                </a:solidFill>
                <a:latin typeface="Open Sans"/>
                <a:ea typeface="Open Sans"/>
                <a:cs typeface="Open Sans"/>
                <a:sym typeface="Open Sans"/>
              </a:rPr>
              <a:t>Component-level React.memo to prevent re-renders</a:t>
            </a:r>
          </a:p>
          <a:p>
            <a:pPr algn="l" marL="506730" indent="-253365" lvl="1">
              <a:lnSpc>
                <a:spcPts val="3276"/>
              </a:lnSpc>
              <a:buFont typeface="Arial"/>
              <a:buChar char="•"/>
            </a:pPr>
            <a:r>
              <a:rPr lang="en-US" sz="2100">
                <a:solidFill>
                  <a:srgbClr val="49495A"/>
                </a:solidFill>
                <a:latin typeface="Open Sans"/>
                <a:ea typeface="Open Sans"/>
                <a:cs typeface="Open Sans"/>
                <a:sym typeface="Open Sans"/>
              </a:rPr>
              <a:t>Lazy loading routes with React.lazy and Suspense</a:t>
            </a:r>
          </a:p>
        </p:txBody>
      </p:sp>
      <p:sp>
        <p:nvSpPr>
          <p:cNvPr name="Freeform 13" id="13" descr="preencoded.png"/>
          <p:cNvSpPr/>
          <p:nvPr/>
        </p:nvSpPr>
        <p:spPr>
          <a:xfrm flipH="false" flipV="false" rot="0">
            <a:off x="12032904" y="2146402"/>
            <a:ext cx="5262858" cy="4328817"/>
          </a:xfrm>
          <a:custGeom>
            <a:avLst/>
            <a:gdLst/>
            <a:ahLst/>
            <a:cxnLst/>
            <a:rect r="r" b="b" t="t" l="l"/>
            <a:pathLst>
              <a:path h="4328817" w="5262858">
                <a:moveTo>
                  <a:pt x="0" y="0"/>
                </a:moveTo>
                <a:lnTo>
                  <a:pt x="5262858" y="0"/>
                </a:lnTo>
                <a:lnTo>
                  <a:pt x="5262858" y="4328817"/>
                </a:lnTo>
                <a:lnTo>
                  <a:pt x="0" y="4328817"/>
                </a:lnTo>
                <a:lnTo>
                  <a:pt x="0" y="0"/>
                </a:lnTo>
                <a:close/>
              </a:path>
            </a:pathLst>
          </a:custGeom>
          <a:blipFill>
            <a:blip r:embed="rId3">
              <a:extLst>
                <a:ext uri="{96DAC541-7B7A-43D3-8B79-37D633B846F1}">
                  <asvg:svgBlip xmlns:asvg="http://schemas.microsoft.com/office/drawing/2016/SVG/main" r:embed="rId4"/>
                </a:ext>
              </a:extLst>
            </a:blip>
            <a:stretch>
              <a:fillRect l="0" t="-16" r="0" b="-15"/>
            </a:stretch>
          </a:blipFill>
        </p:spPr>
      </p:sp>
      <p:sp>
        <p:nvSpPr>
          <p:cNvPr name="TextBox 14" id="14"/>
          <p:cNvSpPr txBox="true"/>
          <p:nvPr/>
        </p:nvSpPr>
        <p:spPr>
          <a:xfrm rot="0">
            <a:off x="12493523" y="2445096"/>
            <a:ext cx="4494009" cy="431749"/>
          </a:xfrm>
          <a:prstGeom prst="rect">
            <a:avLst/>
          </a:prstGeom>
        </p:spPr>
        <p:txBody>
          <a:bodyPr anchor="t" rtlCol="false" tIns="0" lIns="0" bIns="0" rIns="0">
            <a:spAutoFit/>
          </a:bodyPr>
          <a:lstStyle/>
          <a:p>
            <a:pPr algn="l">
              <a:lnSpc>
                <a:spcPts val="3244"/>
              </a:lnSpc>
            </a:pPr>
            <a:r>
              <a:rPr lang="en-US" sz="2600">
                <a:solidFill>
                  <a:srgbClr val="49495A"/>
                </a:solidFill>
                <a:latin typeface="Libre Baskerville"/>
                <a:ea typeface="Libre Baskerville"/>
                <a:cs typeface="Libre Baskerville"/>
                <a:sym typeface="Libre Baskerville"/>
              </a:rPr>
              <a:t>Security Approach</a:t>
            </a:r>
          </a:p>
        </p:txBody>
      </p:sp>
      <p:sp>
        <p:nvSpPr>
          <p:cNvPr name="TextBox 15" id="15"/>
          <p:cNvSpPr txBox="true"/>
          <p:nvPr/>
        </p:nvSpPr>
        <p:spPr>
          <a:xfrm rot="0">
            <a:off x="12493523" y="2964656"/>
            <a:ext cx="4494009" cy="2267845"/>
          </a:xfrm>
          <a:prstGeom prst="rect">
            <a:avLst/>
          </a:prstGeom>
        </p:spPr>
        <p:txBody>
          <a:bodyPr anchor="t" rtlCol="false" tIns="0" lIns="0" bIns="0" rIns="0">
            <a:spAutoFit/>
          </a:bodyPr>
          <a:lstStyle/>
          <a:p>
            <a:pPr algn="l" marL="506730" indent="-253365" lvl="1">
              <a:lnSpc>
                <a:spcPts val="3276"/>
              </a:lnSpc>
              <a:buFont typeface="Arial"/>
              <a:buChar char="•"/>
            </a:pPr>
            <a:r>
              <a:rPr lang="en-US" sz="2100">
                <a:solidFill>
                  <a:srgbClr val="49495A"/>
                </a:solidFill>
                <a:latin typeface="Open Sans"/>
                <a:ea typeface="Open Sans"/>
                <a:cs typeface="Open Sans"/>
                <a:sym typeface="Open Sans"/>
              </a:rPr>
              <a:t>Current: LocalStorage auth with route guards</a:t>
            </a:r>
          </a:p>
          <a:p>
            <a:pPr algn="l" marL="506730" indent="-253365" lvl="1">
              <a:lnSpc>
                <a:spcPts val="3276"/>
              </a:lnSpc>
              <a:buFont typeface="Arial"/>
              <a:buChar char="•"/>
            </a:pPr>
            <a:r>
              <a:rPr lang="en-US" sz="2100">
                <a:solidFill>
                  <a:srgbClr val="49495A"/>
                </a:solidFill>
                <a:latin typeface="Open Sans"/>
                <a:ea typeface="Open Sans"/>
                <a:cs typeface="Open Sans"/>
                <a:sym typeface="Open Sans"/>
              </a:rPr>
              <a:t>Future: JWT tokens, bcrypt hashing, HTTPS, role-based access</a:t>
            </a:r>
          </a:p>
        </p:txBody>
      </p:sp>
      <p:grpSp>
        <p:nvGrpSpPr>
          <p:cNvPr name="Group 16" id="16"/>
          <p:cNvGrpSpPr/>
          <p:nvPr/>
        </p:nvGrpSpPr>
        <p:grpSpPr>
          <a:xfrm rot="0">
            <a:off x="992238" y="6764979"/>
            <a:ext cx="16303523" cy="2735161"/>
            <a:chOff x="0" y="0"/>
            <a:chExt cx="21738031" cy="3646881"/>
          </a:xfrm>
        </p:grpSpPr>
        <p:sp>
          <p:nvSpPr>
            <p:cNvPr name="Freeform 17" id="17"/>
            <p:cNvSpPr/>
            <p:nvPr/>
          </p:nvSpPr>
          <p:spPr>
            <a:xfrm flipH="false" flipV="false" rot="0">
              <a:off x="0" y="0"/>
              <a:ext cx="21738082" cy="3646932"/>
            </a:xfrm>
            <a:custGeom>
              <a:avLst/>
              <a:gdLst/>
              <a:ahLst/>
              <a:cxnLst/>
              <a:rect r="r" b="b" t="t" l="l"/>
              <a:pathLst>
                <a:path h="3646932" w="21738082">
                  <a:moveTo>
                    <a:pt x="0" y="54102"/>
                  </a:moveTo>
                  <a:cubicBezTo>
                    <a:pt x="0" y="24257"/>
                    <a:pt x="24257" y="0"/>
                    <a:pt x="54102" y="0"/>
                  </a:cubicBezTo>
                  <a:lnTo>
                    <a:pt x="21683980" y="0"/>
                  </a:lnTo>
                  <a:cubicBezTo>
                    <a:pt x="21713825" y="0"/>
                    <a:pt x="21738082" y="24257"/>
                    <a:pt x="21738082" y="54102"/>
                  </a:cubicBezTo>
                  <a:lnTo>
                    <a:pt x="21738082" y="3592830"/>
                  </a:lnTo>
                  <a:cubicBezTo>
                    <a:pt x="21738082" y="3622675"/>
                    <a:pt x="21713825" y="3646932"/>
                    <a:pt x="21683980" y="3646932"/>
                  </a:cubicBezTo>
                  <a:lnTo>
                    <a:pt x="54102" y="3646932"/>
                  </a:lnTo>
                  <a:cubicBezTo>
                    <a:pt x="24257" y="3646932"/>
                    <a:pt x="0" y="3622675"/>
                    <a:pt x="0" y="3592830"/>
                  </a:cubicBezTo>
                  <a:close/>
                </a:path>
              </a:pathLst>
            </a:custGeom>
            <a:solidFill>
              <a:srgbClr val="D7D6F5"/>
            </a:solidFill>
          </p:spPr>
        </p:sp>
      </p:grpSp>
      <p:grpSp>
        <p:nvGrpSpPr>
          <p:cNvPr name="Group 18" id="18"/>
          <p:cNvGrpSpPr/>
          <p:nvPr/>
        </p:nvGrpSpPr>
        <p:grpSpPr>
          <a:xfrm rot="0">
            <a:off x="1262358" y="7142264"/>
            <a:ext cx="337690" cy="270119"/>
            <a:chOff x="0" y="0"/>
            <a:chExt cx="450253" cy="360159"/>
          </a:xfrm>
        </p:grpSpPr>
        <p:sp>
          <p:nvSpPr>
            <p:cNvPr name="Freeform 19" id="19" descr="preencoded.png"/>
            <p:cNvSpPr/>
            <p:nvPr/>
          </p:nvSpPr>
          <p:spPr>
            <a:xfrm flipH="false" flipV="false" rot="0">
              <a:off x="0" y="0"/>
              <a:ext cx="450215" cy="360172"/>
            </a:xfrm>
            <a:custGeom>
              <a:avLst/>
              <a:gdLst/>
              <a:ahLst/>
              <a:cxnLst/>
              <a:rect r="r" b="b" t="t" l="l"/>
              <a:pathLst>
                <a:path h="360172" w="450215">
                  <a:moveTo>
                    <a:pt x="0" y="0"/>
                  </a:moveTo>
                  <a:lnTo>
                    <a:pt x="450215" y="0"/>
                  </a:lnTo>
                  <a:lnTo>
                    <a:pt x="450215" y="360172"/>
                  </a:lnTo>
                  <a:lnTo>
                    <a:pt x="0" y="360172"/>
                  </a:lnTo>
                  <a:lnTo>
                    <a:pt x="0" y="0"/>
                  </a:lnTo>
                  <a:close/>
                </a:path>
              </a:pathLst>
            </a:custGeom>
            <a:blipFill>
              <a:blip r:embed="rId5"/>
              <a:stretch>
                <a:fillRect l="0" t="-352" r="-8" b="-352"/>
              </a:stretch>
            </a:blipFill>
          </p:spPr>
        </p:sp>
      </p:grpSp>
      <p:sp>
        <p:nvSpPr>
          <p:cNvPr name="TextBox 20" id="20"/>
          <p:cNvSpPr txBox="true"/>
          <p:nvPr/>
        </p:nvSpPr>
        <p:spPr>
          <a:xfrm rot="0">
            <a:off x="1870177" y="7023202"/>
            <a:ext cx="15155466" cy="2177806"/>
          </a:xfrm>
          <a:prstGeom prst="rect">
            <a:avLst/>
          </a:prstGeom>
        </p:spPr>
        <p:txBody>
          <a:bodyPr anchor="t" rtlCol="false" tIns="0" lIns="0" bIns="0" rIns="0">
            <a:spAutoFit/>
          </a:bodyPr>
          <a:lstStyle/>
          <a:p>
            <a:pPr algn="l">
              <a:lnSpc>
                <a:spcPts val="3276"/>
              </a:lnSpc>
            </a:pPr>
            <a:r>
              <a:rPr lang="en-US" sz="2100" b="true">
                <a:solidFill>
                  <a:srgbClr val="000000"/>
                </a:solidFill>
                <a:latin typeface="Open Sans Bold"/>
                <a:ea typeface="Open Sans Bold"/>
                <a:cs typeface="Open Sans Bold"/>
                <a:sym typeface="Open Sans Bold"/>
              </a:rPr>
              <a:t>Speaker Notes:</a:t>
            </a:r>
            <a:r>
              <a:rPr lang="en-US" sz="2100">
                <a:solidFill>
                  <a:srgbClr val="000000"/>
                </a:solidFill>
                <a:latin typeface="Open Sans"/>
                <a:ea typeface="Open Sans"/>
                <a:cs typeface="Open Sans"/>
                <a:sym typeface="Open Sans"/>
              </a:rPr>
              <a:t> The biggest challenge was managing global state — cart, wishlist, auth, and products all interact, so Redux Toolkit was essential for predictable updates. Razorpay's test mode required careful handling of success and failure callbacks. For performance, I used React.memo on frequently re-rendering components like ProductCard, and lazy-loaded route components to reduce initial bundle size. Security is currently handled via LocalStorage with protected routes; the future backend will add JWT, bcrypt, HTTPS, and role-based access control for production-grade security.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936869"/>
            <a:ext cx="16303523" cy="780450"/>
          </a:xfrm>
          <a:prstGeom prst="rect">
            <a:avLst/>
          </a:prstGeom>
        </p:spPr>
        <p:txBody>
          <a:bodyPr anchor="t" rtlCol="false" tIns="0" lIns="0" bIns="0" rIns="0">
            <a:spAutoFit/>
          </a:bodyPr>
          <a:lstStyle/>
          <a:p>
            <a:pPr algn="l">
              <a:lnSpc>
                <a:spcPts val="5865"/>
              </a:lnSpc>
            </a:pPr>
            <a:r>
              <a:rPr lang="en-US" sz="4700">
                <a:solidFill>
                  <a:srgbClr val="403CCF"/>
                </a:solidFill>
                <a:latin typeface="Libre Baskerville"/>
                <a:ea typeface="Libre Baskerville"/>
                <a:cs typeface="Libre Baskerville"/>
                <a:sym typeface="Libre Baskerville"/>
              </a:rPr>
              <a:t>Future Scope, Learnings &amp; Conclusion</a:t>
            </a:r>
          </a:p>
        </p:txBody>
      </p:sp>
      <p:grpSp>
        <p:nvGrpSpPr>
          <p:cNvPr name="Group 7" id="7"/>
          <p:cNvGrpSpPr/>
          <p:nvPr/>
        </p:nvGrpSpPr>
        <p:grpSpPr>
          <a:xfrm rot="0">
            <a:off x="992238" y="2135981"/>
            <a:ext cx="5295005" cy="2952007"/>
            <a:chOff x="0" y="0"/>
            <a:chExt cx="7060006" cy="3936009"/>
          </a:xfrm>
        </p:grpSpPr>
        <p:sp>
          <p:nvSpPr>
            <p:cNvPr name="Freeform 8" id="8"/>
            <p:cNvSpPr/>
            <p:nvPr/>
          </p:nvSpPr>
          <p:spPr>
            <a:xfrm flipH="false" flipV="false" rot="0">
              <a:off x="0" y="0"/>
              <a:ext cx="7060057" cy="3936111"/>
            </a:xfrm>
            <a:custGeom>
              <a:avLst/>
              <a:gdLst/>
              <a:ahLst/>
              <a:cxnLst/>
              <a:rect r="r" b="b" t="t" l="l"/>
              <a:pathLst>
                <a:path h="3936111" w="7060057">
                  <a:moveTo>
                    <a:pt x="0" y="48768"/>
                  </a:moveTo>
                  <a:cubicBezTo>
                    <a:pt x="0" y="21844"/>
                    <a:pt x="21844" y="0"/>
                    <a:pt x="48768" y="0"/>
                  </a:cubicBezTo>
                  <a:lnTo>
                    <a:pt x="7011289" y="0"/>
                  </a:lnTo>
                  <a:cubicBezTo>
                    <a:pt x="7038213" y="0"/>
                    <a:pt x="7060057" y="21844"/>
                    <a:pt x="7060057" y="48768"/>
                  </a:cubicBezTo>
                  <a:lnTo>
                    <a:pt x="7060057" y="3887343"/>
                  </a:lnTo>
                  <a:cubicBezTo>
                    <a:pt x="7060057" y="3914267"/>
                    <a:pt x="7038213" y="3936111"/>
                    <a:pt x="7011289" y="3936111"/>
                  </a:cubicBezTo>
                  <a:lnTo>
                    <a:pt x="48768" y="3936111"/>
                  </a:lnTo>
                  <a:cubicBezTo>
                    <a:pt x="21844" y="3936111"/>
                    <a:pt x="0" y="3914267"/>
                    <a:pt x="0" y="3887343"/>
                  </a:cubicBezTo>
                  <a:close/>
                </a:path>
              </a:pathLst>
            </a:custGeom>
            <a:solidFill>
              <a:srgbClr val="EAE8F3"/>
            </a:solidFill>
          </p:spPr>
        </p:sp>
      </p:grpSp>
      <p:sp>
        <p:nvSpPr>
          <p:cNvPr name="TextBox 9" id="9"/>
          <p:cNvSpPr txBox="true"/>
          <p:nvPr/>
        </p:nvSpPr>
        <p:spPr>
          <a:xfrm rot="0">
            <a:off x="1235869" y="2379612"/>
            <a:ext cx="4807744" cy="380705"/>
          </a:xfrm>
          <a:prstGeom prst="rect">
            <a:avLst/>
          </a:prstGeom>
        </p:spPr>
        <p:txBody>
          <a:bodyPr anchor="t" rtlCol="false" tIns="0" lIns="0" bIns="0" rIns="0">
            <a:spAutoFit/>
          </a:bodyPr>
          <a:lstStyle/>
          <a:p>
            <a:pPr algn="l">
              <a:lnSpc>
                <a:spcPts val="2870"/>
              </a:lnSpc>
            </a:pPr>
            <a:r>
              <a:rPr lang="en-US" sz="2300">
                <a:solidFill>
                  <a:srgbClr val="000000"/>
                </a:solidFill>
                <a:latin typeface="Libre Baskerville"/>
                <a:ea typeface="Libre Baskerville"/>
                <a:cs typeface="Libre Baskerville"/>
                <a:sym typeface="Libre Baskerville"/>
              </a:rPr>
              <a:t>🔭</a:t>
            </a:r>
            <a:r>
              <a:rPr lang="en-US" sz="2300">
                <a:solidFill>
                  <a:srgbClr val="49495A"/>
                </a:solidFill>
                <a:latin typeface="Libre Baskerville"/>
                <a:ea typeface="Libre Baskerville"/>
                <a:cs typeface="Libre Baskerville"/>
                <a:sym typeface="Libre Baskerville"/>
              </a:rPr>
              <a:t> Future Scope</a:t>
            </a:r>
          </a:p>
        </p:txBody>
      </p:sp>
      <p:sp>
        <p:nvSpPr>
          <p:cNvPr name="TextBox 10" id="10"/>
          <p:cNvSpPr txBox="true"/>
          <p:nvPr/>
        </p:nvSpPr>
        <p:spPr>
          <a:xfrm rot="0">
            <a:off x="1235869" y="2828773"/>
            <a:ext cx="4807744" cy="1653178"/>
          </a:xfrm>
          <a:prstGeom prst="rect">
            <a:avLst/>
          </a:prstGeom>
        </p:spPr>
        <p:txBody>
          <a:bodyPr anchor="t" rtlCol="false" tIns="0" lIns="0" bIns="0" rIns="0">
            <a:spAutoFit/>
          </a:bodyPr>
          <a:lstStyle/>
          <a:p>
            <a:pPr algn="l" marL="458470" indent="-229235" lvl="1">
              <a:lnSpc>
                <a:spcPts val="2827"/>
              </a:lnSpc>
              <a:buFont typeface="Arial"/>
              <a:buChar char="•"/>
            </a:pPr>
            <a:r>
              <a:rPr lang="en-US" sz="1900">
                <a:solidFill>
                  <a:srgbClr val="49495A"/>
                </a:solidFill>
                <a:latin typeface="Open Sans"/>
                <a:ea typeface="Open Sans"/>
                <a:cs typeface="Open Sans"/>
                <a:sym typeface="Open Sans"/>
              </a:rPr>
              <a:t>Flask REST API + MySQL + JWT backend</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Docker, Redis caching, cloud storage</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Reviews, coupons, notifications, order tracking</a:t>
            </a:r>
          </a:p>
        </p:txBody>
      </p:sp>
      <p:grpSp>
        <p:nvGrpSpPr>
          <p:cNvPr name="Group 11" id="11"/>
          <p:cNvGrpSpPr/>
          <p:nvPr/>
        </p:nvGrpSpPr>
        <p:grpSpPr>
          <a:xfrm rot="0">
            <a:off x="6496498" y="2135981"/>
            <a:ext cx="5295005" cy="2952007"/>
            <a:chOff x="0" y="0"/>
            <a:chExt cx="7060006" cy="3936009"/>
          </a:xfrm>
        </p:grpSpPr>
        <p:sp>
          <p:nvSpPr>
            <p:cNvPr name="Freeform 12" id="12"/>
            <p:cNvSpPr/>
            <p:nvPr/>
          </p:nvSpPr>
          <p:spPr>
            <a:xfrm flipH="false" flipV="false" rot="0">
              <a:off x="0" y="0"/>
              <a:ext cx="7060057" cy="3936111"/>
            </a:xfrm>
            <a:custGeom>
              <a:avLst/>
              <a:gdLst/>
              <a:ahLst/>
              <a:cxnLst/>
              <a:rect r="r" b="b" t="t" l="l"/>
              <a:pathLst>
                <a:path h="3936111" w="7060057">
                  <a:moveTo>
                    <a:pt x="0" y="48768"/>
                  </a:moveTo>
                  <a:cubicBezTo>
                    <a:pt x="0" y="21844"/>
                    <a:pt x="21844" y="0"/>
                    <a:pt x="48768" y="0"/>
                  </a:cubicBezTo>
                  <a:lnTo>
                    <a:pt x="7011289" y="0"/>
                  </a:lnTo>
                  <a:cubicBezTo>
                    <a:pt x="7038213" y="0"/>
                    <a:pt x="7060057" y="21844"/>
                    <a:pt x="7060057" y="48768"/>
                  </a:cubicBezTo>
                  <a:lnTo>
                    <a:pt x="7060057" y="3887343"/>
                  </a:lnTo>
                  <a:cubicBezTo>
                    <a:pt x="7060057" y="3914267"/>
                    <a:pt x="7038213" y="3936111"/>
                    <a:pt x="7011289" y="3936111"/>
                  </a:cubicBezTo>
                  <a:lnTo>
                    <a:pt x="48768" y="3936111"/>
                  </a:lnTo>
                  <a:cubicBezTo>
                    <a:pt x="21844" y="3936111"/>
                    <a:pt x="0" y="3914267"/>
                    <a:pt x="0" y="3887343"/>
                  </a:cubicBezTo>
                  <a:close/>
                </a:path>
              </a:pathLst>
            </a:custGeom>
            <a:solidFill>
              <a:srgbClr val="EAE8F3"/>
            </a:solidFill>
          </p:spPr>
        </p:sp>
      </p:grpSp>
      <p:sp>
        <p:nvSpPr>
          <p:cNvPr name="TextBox 13" id="13"/>
          <p:cNvSpPr txBox="true"/>
          <p:nvPr/>
        </p:nvSpPr>
        <p:spPr>
          <a:xfrm rot="0">
            <a:off x="6740128" y="2379612"/>
            <a:ext cx="4807744" cy="380705"/>
          </a:xfrm>
          <a:prstGeom prst="rect">
            <a:avLst/>
          </a:prstGeom>
        </p:spPr>
        <p:txBody>
          <a:bodyPr anchor="t" rtlCol="false" tIns="0" lIns="0" bIns="0" rIns="0">
            <a:spAutoFit/>
          </a:bodyPr>
          <a:lstStyle/>
          <a:p>
            <a:pPr algn="l">
              <a:lnSpc>
                <a:spcPts val="2870"/>
              </a:lnSpc>
            </a:pPr>
            <a:r>
              <a:rPr lang="en-US" sz="2300">
                <a:solidFill>
                  <a:srgbClr val="000000"/>
                </a:solidFill>
                <a:latin typeface="Libre Baskerville"/>
                <a:ea typeface="Libre Baskerville"/>
                <a:cs typeface="Libre Baskerville"/>
                <a:sym typeface="Libre Baskerville"/>
              </a:rPr>
              <a:t>📚</a:t>
            </a:r>
            <a:r>
              <a:rPr lang="en-US" sz="2300">
                <a:solidFill>
                  <a:srgbClr val="49495A"/>
                </a:solidFill>
                <a:latin typeface="Libre Baskerville"/>
                <a:ea typeface="Libre Baskerville"/>
                <a:cs typeface="Libre Baskerville"/>
                <a:sym typeface="Libre Baskerville"/>
              </a:rPr>
              <a:t> Lessons Learned</a:t>
            </a:r>
          </a:p>
        </p:txBody>
      </p:sp>
      <p:sp>
        <p:nvSpPr>
          <p:cNvPr name="TextBox 14" id="14"/>
          <p:cNvSpPr txBox="true"/>
          <p:nvPr/>
        </p:nvSpPr>
        <p:spPr>
          <a:xfrm rot="0">
            <a:off x="6740128" y="2828773"/>
            <a:ext cx="4807744" cy="2015576"/>
          </a:xfrm>
          <a:prstGeom prst="rect">
            <a:avLst/>
          </a:prstGeom>
        </p:spPr>
        <p:txBody>
          <a:bodyPr anchor="t" rtlCol="false" tIns="0" lIns="0" bIns="0" rIns="0">
            <a:spAutoFit/>
          </a:bodyPr>
          <a:lstStyle/>
          <a:p>
            <a:pPr algn="l" marL="458470" indent="-229235" lvl="1">
              <a:lnSpc>
                <a:spcPts val="2827"/>
              </a:lnSpc>
              <a:buFont typeface="Arial"/>
              <a:buChar char="•"/>
            </a:pPr>
            <a:r>
              <a:rPr lang="en-US" sz="1900">
                <a:solidFill>
                  <a:srgbClr val="49495A"/>
                </a:solidFill>
                <a:latin typeface="Open Sans"/>
                <a:ea typeface="Open Sans"/>
                <a:cs typeface="Open Sans"/>
                <a:sym typeface="Open Sans"/>
              </a:rPr>
              <a:t>Redux Toolkit simplifies complex state</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Clean architecture accelerates debugging</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REST APIs + payments in production contexts</a:t>
            </a:r>
          </a:p>
        </p:txBody>
      </p:sp>
      <p:grpSp>
        <p:nvGrpSpPr>
          <p:cNvPr name="Group 15" id="15"/>
          <p:cNvGrpSpPr/>
          <p:nvPr/>
        </p:nvGrpSpPr>
        <p:grpSpPr>
          <a:xfrm rot="0">
            <a:off x="12000757" y="2135981"/>
            <a:ext cx="5295005" cy="2952007"/>
            <a:chOff x="0" y="0"/>
            <a:chExt cx="7060006" cy="3936009"/>
          </a:xfrm>
        </p:grpSpPr>
        <p:sp>
          <p:nvSpPr>
            <p:cNvPr name="Freeform 16" id="16"/>
            <p:cNvSpPr/>
            <p:nvPr/>
          </p:nvSpPr>
          <p:spPr>
            <a:xfrm flipH="false" flipV="false" rot="0">
              <a:off x="0" y="0"/>
              <a:ext cx="7060057" cy="3936111"/>
            </a:xfrm>
            <a:custGeom>
              <a:avLst/>
              <a:gdLst/>
              <a:ahLst/>
              <a:cxnLst/>
              <a:rect r="r" b="b" t="t" l="l"/>
              <a:pathLst>
                <a:path h="3936111" w="7060057">
                  <a:moveTo>
                    <a:pt x="0" y="48768"/>
                  </a:moveTo>
                  <a:cubicBezTo>
                    <a:pt x="0" y="21844"/>
                    <a:pt x="21844" y="0"/>
                    <a:pt x="48768" y="0"/>
                  </a:cubicBezTo>
                  <a:lnTo>
                    <a:pt x="7011289" y="0"/>
                  </a:lnTo>
                  <a:cubicBezTo>
                    <a:pt x="7038213" y="0"/>
                    <a:pt x="7060057" y="21844"/>
                    <a:pt x="7060057" y="48768"/>
                  </a:cubicBezTo>
                  <a:lnTo>
                    <a:pt x="7060057" y="3887343"/>
                  </a:lnTo>
                  <a:cubicBezTo>
                    <a:pt x="7060057" y="3914267"/>
                    <a:pt x="7038213" y="3936111"/>
                    <a:pt x="7011289" y="3936111"/>
                  </a:cubicBezTo>
                  <a:lnTo>
                    <a:pt x="48768" y="3936111"/>
                  </a:lnTo>
                  <a:cubicBezTo>
                    <a:pt x="21844" y="3936111"/>
                    <a:pt x="0" y="3914267"/>
                    <a:pt x="0" y="3887343"/>
                  </a:cubicBezTo>
                  <a:close/>
                </a:path>
              </a:pathLst>
            </a:custGeom>
            <a:solidFill>
              <a:srgbClr val="EAE8F3"/>
            </a:solidFill>
          </p:spPr>
        </p:sp>
      </p:grpSp>
      <p:sp>
        <p:nvSpPr>
          <p:cNvPr name="TextBox 17" id="17"/>
          <p:cNvSpPr txBox="true"/>
          <p:nvPr/>
        </p:nvSpPr>
        <p:spPr>
          <a:xfrm rot="0">
            <a:off x="12244388" y="2379612"/>
            <a:ext cx="4807744" cy="380705"/>
          </a:xfrm>
          <a:prstGeom prst="rect">
            <a:avLst/>
          </a:prstGeom>
        </p:spPr>
        <p:txBody>
          <a:bodyPr anchor="t" rtlCol="false" tIns="0" lIns="0" bIns="0" rIns="0">
            <a:spAutoFit/>
          </a:bodyPr>
          <a:lstStyle/>
          <a:p>
            <a:pPr algn="l">
              <a:lnSpc>
                <a:spcPts val="2870"/>
              </a:lnSpc>
            </a:pPr>
            <a:r>
              <a:rPr lang="en-US" sz="2300">
                <a:solidFill>
                  <a:srgbClr val="000000"/>
                </a:solidFill>
                <a:latin typeface="Libre Baskerville"/>
                <a:ea typeface="Libre Baskerville"/>
                <a:cs typeface="Libre Baskerville"/>
                <a:sym typeface="Libre Baskerville"/>
              </a:rPr>
              <a:t>✅</a:t>
            </a:r>
            <a:r>
              <a:rPr lang="en-US" sz="2300">
                <a:solidFill>
                  <a:srgbClr val="49495A"/>
                </a:solidFill>
                <a:latin typeface="Libre Baskerville"/>
                <a:ea typeface="Libre Baskerville"/>
                <a:cs typeface="Libre Baskerville"/>
                <a:sym typeface="Libre Baskerville"/>
              </a:rPr>
              <a:t> Why It Matters</a:t>
            </a:r>
          </a:p>
        </p:txBody>
      </p:sp>
      <p:sp>
        <p:nvSpPr>
          <p:cNvPr name="TextBox 18" id="18"/>
          <p:cNvSpPr txBox="true"/>
          <p:nvPr/>
        </p:nvSpPr>
        <p:spPr>
          <a:xfrm rot="0">
            <a:off x="12244388" y="2828773"/>
            <a:ext cx="4807744" cy="2015576"/>
          </a:xfrm>
          <a:prstGeom prst="rect">
            <a:avLst/>
          </a:prstGeom>
        </p:spPr>
        <p:txBody>
          <a:bodyPr anchor="t" rtlCol="false" tIns="0" lIns="0" bIns="0" rIns="0">
            <a:spAutoFit/>
          </a:bodyPr>
          <a:lstStyle/>
          <a:p>
            <a:pPr algn="l" marL="458470" indent="-229235" lvl="1">
              <a:lnSpc>
                <a:spcPts val="2827"/>
              </a:lnSpc>
              <a:buFont typeface="Arial"/>
              <a:buChar char="•"/>
            </a:pPr>
            <a:r>
              <a:rPr lang="en-US" sz="1900">
                <a:solidFill>
                  <a:srgbClr val="49495A"/>
                </a:solidFill>
                <a:latin typeface="Open Sans"/>
                <a:ea typeface="Open Sans"/>
                <a:cs typeface="Open Sans"/>
                <a:sym typeface="Open Sans"/>
              </a:rPr>
              <a:t>Demonstrates React, Redux, routing, and payments</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Responsive, deployed, and open-source</a:t>
            </a:r>
          </a:p>
          <a:p>
            <a:pPr algn="l" marL="458470" indent="-229235" lvl="1">
              <a:lnSpc>
                <a:spcPts val="2827"/>
              </a:lnSpc>
              <a:buFont typeface="Arial"/>
              <a:buChar char="•"/>
            </a:pPr>
            <a:r>
              <a:rPr lang="en-US" sz="1900">
                <a:solidFill>
                  <a:srgbClr val="49495A"/>
                </a:solidFill>
                <a:latin typeface="Open Sans"/>
                <a:ea typeface="Open Sans"/>
                <a:cs typeface="Open Sans"/>
                <a:sym typeface="Open Sans"/>
              </a:rPr>
              <a:t>Ready for backend integration at scale</a:t>
            </a:r>
          </a:p>
        </p:txBody>
      </p:sp>
      <p:grpSp>
        <p:nvGrpSpPr>
          <p:cNvPr name="Group 19" id="19"/>
          <p:cNvGrpSpPr/>
          <p:nvPr/>
        </p:nvGrpSpPr>
        <p:grpSpPr>
          <a:xfrm rot="0">
            <a:off x="992238" y="5323437"/>
            <a:ext cx="28575" cy="833285"/>
            <a:chOff x="0" y="0"/>
            <a:chExt cx="38100" cy="1111047"/>
          </a:xfrm>
        </p:grpSpPr>
        <p:sp>
          <p:nvSpPr>
            <p:cNvPr name="Freeform 20" id="20"/>
            <p:cNvSpPr/>
            <p:nvPr/>
          </p:nvSpPr>
          <p:spPr>
            <a:xfrm flipH="false" flipV="false" rot="0">
              <a:off x="0" y="0"/>
              <a:ext cx="38100" cy="1110996"/>
            </a:xfrm>
            <a:custGeom>
              <a:avLst/>
              <a:gdLst/>
              <a:ahLst/>
              <a:cxnLst/>
              <a:rect r="r" b="b" t="t" l="l"/>
              <a:pathLst>
                <a:path h="1110996" w="38100">
                  <a:moveTo>
                    <a:pt x="0" y="19050"/>
                  </a:moveTo>
                  <a:cubicBezTo>
                    <a:pt x="0" y="8509"/>
                    <a:pt x="8509" y="0"/>
                    <a:pt x="19050" y="0"/>
                  </a:cubicBezTo>
                  <a:cubicBezTo>
                    <a:pt x="29591" y="0"/>
                    <a:pt x="38100" y="8509"/>
                    <a:pt x="38100" y="19050"/>
                  </a:cubicBezTo>
                  <a:lnTo>
                    <a:pt x="38100" y="1091946"/>
                  </a:lnTo>
                  <a:cubicBezTo>
                    <a:pt x="38100" y="1102487"/>
                    <a:pt x="29591" y="1110996"/>
                    <a:pt x="19050" y="1110996"/>
                  </a:cubicBezTo>
                  <a:cubicBezTo>
                    <a:pt x="8509" y="1110996"/>
                    <a:pt x="0" y="1102487"/>
                    <a:pt x="0" y="1091946"/>
                  </a:cubicBezTo>
                  <a:close/>
                </a:path>
              </a:pathLst>
            </a:custGeom>
            <a:solidFill>
              <a:srgbClr val="403CCF"/>
            </a:solidFill>
          </p:spPr>
        </p:sp>
      </p:grpSp>
      <p:sp>
        <p:nvSpPr>
          <p:cNvPr name="TextBox 21" id="21"/>
          <p:cNvSpPr txBox="true"/>
          <p:nvPr/>
        </p:nvSpPr>
        <p:spPr>
          <a:xfrm rot="0">
            <a:off x="1357608" y="5501726"/>
            <a:ext cx="16852554" cy="419548"/>
          </a:xfrm>
          <a:prstGeom prst="rect">
            <a:avLst/>
          </a:prstGeom>
        </p:spPr>
        <p:txBody>
          <a:bodyPr anchor="t" rtlCol="false" tIns="0" lIns="0" bIns="0" rIns="0">
            <a:spAutoFit/>
          </a:bodyPr>
          <a:lstStyle/>
          <a:p>
            <a:pPr algn="l">
              <a:lnSpc>
                <a:spcPts val="2827"/>
              </a:lnSpc>
            </a:pPr>
            <a:r>
              <a:rPr lang="en-US" sz="1900" b="true">
                <a:solidFill>
                  <a:srgbClr val="49495A"/>
                </a:solidFill>
                <a:latin typeface="Open Sans Bold"/>
                <a:ea typeface="Open Sans Bold"/>
                <a:cs typeface="Open Sans Bold"/>
                <a:sym typeface="Open Sans Bold"/>
              </a:rPr>
              <a:t>Thank you for your time.</a:t>
            </a:r>
            <a:r>
              <a:rPr lang="en-US" sz="1900">
                <a:solidFill>
                  <a:srgbClr val="49495A"/>
                </a:solidFill>
                <a:latin typeface="Open Sans"/>
                <a:ea typeface="Open Sans"/>
                <a:cs typeface="Open Sans"/>
                <a:sym typeface="Open Sans"/>
              </a:rPr>
              <a:t> I'm happy to walk through the live demo or dive into any technical detail.</a:t>
            </a:r>
          </a:p>
        </p:txBody>
      </p:sp>
      <p:sp>
        <p:nvSpPr>
          <p:cNvPr name="TextBox 22" id="22"/>
          <p:cNvSpPr txBox="true"/>
          <p:nvPr/>
        </p:nvSpPr>
        <p:spPr>
          <a:xfrm rot="0">
            <a:off x="992238" y="6335020"/>
            <a:ext cx="17217923" cy="429073"/>
          </a:xfrm>
          <a:prstGeom prst="rect">
            <a:avLst/>
          </a:prstGeom>
        </p:spPr>
        <p:txBody>
          <a:bodyPr anchor="t" rtlCol="false" tIns="0" lIns="0" bIns="0" rIns="0">
            <a:spAutoFit/>
          </a:bodyPr>
          <a:lstStyle/>
          <a:p>
            <a:pPr algn="l">
              <a:lnSpc>
                <a:spcPts val="2827"/>
              </a:lnSpc>
            </a:pPr>
            <a:r>
              <a:rPr lang="en-US" sz="1900">
                <a:solidFill>
                  <a:srgbClr val="000000"/>
                </a:solidFill>
                <a:latin typeface="Open Sans"/>
                <a:ea typeface="Open Sans"/>
                <a:cs typeface="Open Sans"/>
                <a:sym typeface="Open Sans"/>
              </a:rPr>
              <a:t>🔗</a:t>
            </a:r>
            <a:r>
              <a:rPr lang="en-US" sz="1900">
                <a:solidFill>
                  <a:srgbClr val="49495A"/>
                </a:solidFill>
                <a:latin typeface="Open Sans"/>
                <a:ea typeface="Open Sans"/>
                <a:cs typeface="Open Sans"/>
                <a:sym typeface="Open Sans"/>
              </a:rPr>
              <a:t> </a:t>
            </a:r>
            <a:r>
              <a:rPr lang="en-US" b="true" sz="1900" u="sng">
                <a:solidFill>
                  <a:srgbClr val="403CCF"/>
                </a:solidFill>
                <a:latin typeface="Open Sans Bold"/>
                <a:ea typeface="Open Sans Bold"/>
                <a:cs typeface="Open Sans Bold"/>
                <a:sym typeface="Open Sans Bold"/>
                <a:hlinkClick r:id="rId3" tooltip="https://electro-mart-indol.vercel.app/"/>
              </a:rPr>
              <a:t>Live Demo</a:t>
            </a:r>
            <a:r>
              <a:rPr lang="en-US" sz="1900">
                <a:solidFill>
                  <a:srgbClr val="49495A"/>
                </a:solidFill>
                <a:latin typeface="Open Sans"/>
                <a:ea typeface="Open Sans"/>
                <a:cs typeface="Open Sans"/>
                <a:sym typeface="Open Sans"/>
              </a:rPr>
              <a:t> · </a:t>
            </a:r>
            <a:r>
              <a:rPr lang="en-US" sz="1900">
                <a:solidFill>
                  <a:srgbClr val="000000"/>
                </a:solidFill>
                <a:latin typeface="Open Sans"/>
                <a:ea typeface="Open Sans"/>
                <a:cs typeface="Open Sans"/>
                <a:sym typeface="Open Sans"/>
              </a:rPr>
              <a:t>📂</a:t>
            </a:r>
            <a:r>
              <a:rPr lang="en-US" sz="1900">
                <a:solidFill>
                  <a:srgbClr val="49495A"/>
                </a:solidFill>
                <a:latin typeface="Open Sans"/>
                <a:ea typeface="Open Sans"/>
                <a:cs typeface="Open Sans"/>
                <a:sym typeface="Open Sans"/>
              </a:rPr>
              <a:t> </a:t>
            </a:r>
            <a:r>
              <a:rPr lang="en-US" b="true" sz="1900" u="sng">
                <a:solidFill>
                  <a:srgbClr val="403CCF"/>
                </a:solidFill>
                <a:latin typeface="Open Sans Bold"/>
                <a:ea typeface="Open Sans Bold"/>
                <a:cs typeface="Open Sans Bold"/>
                <a:sym typeface="Open Sans Bold"/>
                <a:hlinkClick r:id="rId4" tooltip="https://github.com/Ankani-Balaji/ElectroMart"/>
              </a:rPr>
              <a:t>GitHub Repository</a:t>
            </a:r>
          </a:p>
        </p:txBody>
      </p:sp>
      <p:grpSp>
        <p:nvGrpSpPr>
          <p:cNvPr name="Group 23" id="23"/>
          <p:cNvGrpSpPr/>
          <p:nvPr/>
        </p:nvGrpSpPr>
        <p:grpSpPr>
          <a:xfrm rot="0">
            <a:off x="992238" y="6999532"/>
            <a:ext cx="16303523" cy="2331396"/>
            <a:chOff x="0" y="0"/>
            <a:chExt cx="21738031" cy="3108528"/>
          </a:xfrm>
        </p:grpSpPr>
        <p:sp>
          <p:nvSpPr>
            <p:cNvPr name="Freeform 24" id="24"/>
            <p:cNvSpPr/>
            <p:nvPr/>
          </p:nvSpPr>
          <p:spPr>
            <a:xfrm flipH="false" flipV="false" rot="0">
              <a:off x="0" y="0"/>
              <a:ext cx="21738081" cy="3108579"/>
            </a:xfrm>
            <a:custGeom>
              <a:avLst/>
              <a:gdLst/>
              <a:ahLst/>
              <a:cxnLst/>
              <a:rect r="r" b="b" t="t" l="l"/>
              <a:pathLst>
                <a:path h="3108579" w="21738081">
                  <a:moveTo>
                    <a:pt x="0" y="48768"/>
                  </a:moveTo>
                  <a:cubicBezTo>
                    <a:pt x="0" y="21844"/>
                    <a:pt x="21844" y="0"/>
                    <a:pt x="48768" y="0"/>
                  </a:cubicBezTo>
                  <a:lnTo>
                    <a:pt x="21689313" y="0"/>
                  </a:lnTo>
                  <a:cubicBezTo>
                    <a:pt x="21716237" y="0"/>
                    <a:pt x="21738081" y="21844"/>
                    <a:pt x="21738081" y="48768"/>
                  </a:cubicBezTo>
                  <a:lnTo>
                    <a:pt x="21738081" y="3059811"/>
                  </a:lnTo>
                  <a:cubicBezTo>
                    <a:pt x="21738081" y="3086735"/>
                    <a:pt x="21716237" y="3108579"/>
                    <a:pt x="21689313" y="3108579"/>
                  </a:cubicBezTo>
                  <a:lnTo>
                    <a:pt x="48768" y="3108579"/>
                  </a:lnTo>
                  <a:cubicBezTo>
                    <a:pt x="21844" y="3108579"/>
                    <a:pt x="0" y="3086735"/>
                    <a:pt x="0" y="3059811"/>
                  </a:cubicBezTo>
                  <a:close/>
                </a:path>
              </a:pathLst>
            </a:custGeom>
            <a:solidFill>
              <a:srgbClr val="D7D6F5"/>
            </a:solidFill>
          </p:spPr>
        </p:sp>
      </p:grpSp>
      <p:grpSp>
        <p:nvGrpSpPr>
          <p:cNvPr name="Group 25" id="25"/>
          <p:cNvGrpSpPr/>
          <p:nvPr/>
        </p:nvGrpSpPr>
        <p:grpSpPr>
          <a:xfrm rot="0">
            <a:off x="1235869" y="7338422"/>
            <a:ext cx="304505" cy="243630"/>
            <a:chOff x="0" y="0"/>
            <a:chExt cx="406006" cy="324841"/>
          </a:xfrm>
        </p:grpSpPr>
        <p:sp>
          <p:nvSpPr>
            <p:cNvPr name="Freeform 26" id="26" descr="preencoded.png"/>
            <p:cNvSpPr/>
            <p:nvPr/>
          </p:nvSpPr>
          <p:spPr>
            <a:xfrm flipH="false" flipV="false" rot="0">
              <a:off x="0" y="0"/>
              <a:ext cx="406019" cy="324866"/>
            </a:xfrm>
            <a:custGeom>
              <a:avLst/>
              <a:gdLst/>
              <a:ahLst/>
              <a:cxnLst/>
              <a:rect r="r" b="b" t="t" l="l"/>
              <a:pathLst>
                <a:path h="324866" w="406019">
                  <a:moveTo>
                    <a:pt x="0" y="0"/>
                  </a:moveTo>
                  <a:lnTo>
                    <a:pt x="406019" y="0"/>
                  </a:lnTo>
                  <a:lnTo>
                    <a:pt x="406019" y="324866"/>
                  </a:lnTo>
                  <a:lnTo>
                    <a:pt x="0" y="324866"/>
                  </a:lnTo>
                  <a:lnTo>
                    <a:pt x="0" y="0"/>
                  </a:lnTo>
                  <a:close/>
                </a:path>
              </a:pathLst>
            </a:custGeom>
            <a:blipFill>
              <a:blip r:embed="rId5"/>
              <a:stretch>
                <a:fillRect l="0" t="-774" r="3" b="-770"/>
              </a:stretch>
            </a:blipFill>
          </p:spPr>
        </p:sp>
      </p:grpSp>
      <p:sp>
        <p:nvSpPr>
          <p:cNvPr name="TextBox 27" id="27"/>
          <p:cNvSpPr txBox="true"/>
          <p:nvPr/>
        </p:nvSpPr>
        <p:spPr>
          <a:xfrm rot="0">
            <a:off x="1784004" y="7212511"/>
            <a:ext cx="15268127" cy="1869129"/>
          </a:xfrm>
          <a:prstGeom prst="rect">
            <a:avLst/>
          </a:prstGeom>
        </p:spPr>
        <p:txBody>
          <a:bodyPr anchor="t" rtlCol="false" tIns="0" lIns="0" bIns="0" rIns="0">
            <a:spAutoFit/>
          </a:bodyPr>
          <a:lstStyle/>
          <a:p>
            <a:pPr algn="l">
              <a:lnSpc>
                <a:spcPts val="2827"/>
              </a:lnSpc>
            </a:pPr>
            <a:r>
              <a:rPr lang="en-US" sz="1900" b="true">
                <a:solidFill>
                  <a:srgbClr val="000000"/>
                </a:solidFill>
                <a:latin typeface="Open Sans Bold"/>
                <a:ea typeface="Open Sans Bold"/>
                <a:cs typeface="Open Sans Bold"/>
                <a:sym typeface="Open Sans Bold"/>
              </a:rPr>
              <a:t>Speaker Notes:</a:t>
            </a:r>
            <a:r>
              <a:rPr lang="en-US" sz="1900">
                <a:solidFill>
                  <a:srgbClr val="000000"/>
                </a:solidFill>
                <a:latin typeface="Open Sans"/>
                <a:ea typeface="Open Sans"/>
                <a:cs typeface="Open Sans"/>
                <a:sym typeface="Open Sans"/>
              </a:rPr>
              <a:t> The future roadmap includes replacing JSON Server with a Flask REST API and MySQL database, adding JWT authentication, Docker containerization, and Redis caching. I also plan to add user reviews, discount coupons, email notifications, and real-time order tracking. This project demonstrates proficiency in React, Redux Toolkit, routing, REST APIs, payment integration, responsive UI design, and deployment — all skills directly relevant to a frontend engineering role. I'm happy to open the live demo or walk through the codebase on GitHub.</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79676"/>
          </a:xfrm>
          <a:custGeom>
            <a:avLst/>
            <a:gdLst/>
            <a:ahLst/>
            <a:cxnLst/>
            <a:rect r="r" b="b" t="t" l="l"/>
            <a:pathLst>
              <a:path h="10379676" w="18288000">
                <a:moveTo>
                  <a:pt x="0" y="0"/>
                </a:moveTo>
                <a:lnTo>
                  <a:pt x="18288000" y="0"/>
                </a:lnTo>
                <a:lnTo>
                  <a:pt x="18288000" y="10379676"/>
                </a:lnTo>
                <a:lnTo>
                  <a:pt x="0" y="10379676"/>
                </a:lnTo>
                <a:lnTo>
                  <a:pt x="0" y="0"/>
                </a:lnTo>
                <a:close/>
              </a:path>
            </a:pathLst>
          </a:custGeom>
          <a:blipFill>
            <a:blip r:embed="rId2"/>
            <a:stretch>
              <a:fillRect l="0" t="0" r="0" b="0"/>
            </a:stretch>
          </a:blipFill>
        </p:spPr>
      </p:sp>
      <p:sp>
        <p:nvSpPr>
          <p:cNvPr name="TextBox 3" id="3"/>
          <p:cNvSpPr txBox="true"/>
          <p:nvPr/>
        </p:nvSpPr>
        <p:spPr>
          <a:xfrm rot="0">
            <a:off x="1636525" y="3058979"/>
            <a:ext cx="16117987" cy="3594149"/>
          </a:xfrm>
          <a:prstGeom prst="rect">
            <a:avLst/>
          </a:prstGeom>
        </p:spPr>
        <p:txBody>
          <a:bodyPr anchor="t" rtlCol="false" tIns="0" lIns="0" bIns="0" rIns="0">
            <a:spAutoFit/>
          </a:bodyPr>
          <a:lstStyle/>
          <a:p>
            <a:pPr algn="ctr">
              <a:lnSpc>
                <a:spcPts val="28590"/>
              </a:lnSpc>
              <a:spcBef>
                <a:spcPct val="0"/>
              </a:spcBef>
            </a:pPr>
            <a:r>
              <a:rPr lang="en-US" sz="22908">
                <a:gradFill>
                  <a:gsLst>
                    <a:gs pos="0">
                      <a:srgbClr val="000000">
                        <a:alpha val="100000"/>
                      </a:srgbClr>
                    </a:gs>
                    <a:gs pos="100000">
                      <a:srgbClr val="3533CD">
                        <a:alpha val="100000"/>
                      </a:srgbClr>
                    </a:gs>
                  </a:gsLst>
                  <a:lin ang="0"/>
                </a:gradFill>
                <a:latin typeface="Libre Baskerville"/>
                <a:ea typeface="Libre Baskerville"/>
                <a:cs typeface="Libre Baskerville"/>
                <a:sym typeface="Libre Baskervill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DAHPzcizAiU</dc:identifier>
  <dcterms:modified xsi:type="dcterms:W3CDTF">2011-08-01T06:04:30Z</dcterms:modified>
  <cp:revision>1</cp:revision>
  <dc:title>Modern-E-Commerce-Web-Application.pptx</dc:title>
</cp:coreProperties>
</file>